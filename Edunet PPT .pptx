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24"/>
  </p:notesMasterIdLst>
  <p:sldIdLst>
    <p:sldId id="257" r:id="rId5"/>
    <p:sldId id="270" r:id="rId6"/>
    <p:sldId id="259" r:id="rId7"/>
    <p:sldId id="261" r:id="rId8"/>
    <p:sldId id="262" r:id="rId9"/>
    <p:sldId id="263" r:id="rId10"/>
    <p:sldId id="269" r:id="rId11"/>
    <p:sldId id="264" r:id="rId12"/>
    <p:sldId id="265" r:id="rId13"/>
    <p:sldId id="287" r:id="rId14"/>
    <p:sldId id="288" r:id="rId15"/>
    <p:sldId id="290" r:id="rId16"/>
    <p:sldId id="292" r:id="rId17"/>
    <p:sldId id="291" r:id="rId18"/>
    <p:sldId id="280" r:id="rId19"/>
    <p:sldId id="293" r:id="rId20"/>
    <p:sldId id="294" r:id="rId21"/>
    <p:sldId id="295" r:id="rId22"/>
    <p:sldId id="283"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ADE4"/>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46BE1A-474C-44EA-B935-5E411D3527B2}" v="39" dt="2024-07-20T18:20:09.7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25-07-2024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7/25/2024</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7/25/2024</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7/25/2024</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7/25/2024</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7/25/2024</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7/25/2024</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7/25/2024</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7/25/2024</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7/25/2024</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7/25/2024</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7/25/2024</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7/25/2024</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hyperlink" Target="https://www.kaggle.com/datasets/blurredmachine/are-your-employees-burning-out"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D6D7A0BC-0046-4CAA-8E7F-DCAFE511EA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21E816-31F5-48BB-BD02-D15F2F18B48A}"/>
              </a:ext>
            </a:extLst>
          </p:cNvPr>
          <p:cNvSpPr>
            <a:spLocks noGrp="1"/>
          </p:cNvSpPr>
          <p:nvPr>
            <p:ph type="ctrTitle"/>
          </p:nvPr>
        </p:nvSpPr>
        <p:spPr>
          <a:xfrm>
            <a:off x="370175" y="-188867"/>
            <a:ext cx="10993549" cy="1475013"/>
          </a:xfrm>
        </p:spPr>
        <p:txBody>
          <a:bodyPr>
            <a:normAutofit/>
          </a:bodyPr>
          <a:lstStyle/>
          <a:p>
            <a:r>
              <a:rPr lang="en-GB" sz="3600" dirty="0"/>
              <a:t>                                 </a:t>
            </a:r>
            <a:r>
              <a:rPr lang="en-GB" sz="3200" dirty="0">
                <a:solidFill>
                  <a:schemeClr val="accent1">
                    <a:lumMod val="75000"/>
                  </a:schemeClr>
                </a:solidFill>
              </a:rPr>
              <a:t>Student Details</a:t>
            </a:r>
            <a:endParaRPr lang="en-US" sz="3200" dirty="0">
              <a:solidFill>
                <a:schemeClr val="accent1">
                  <a:lumMod val="75000"/>
                </a:schemeClr>
              </a:solidFill>
            </a:endParaRPr>
          </a:p>
        </p:txBody>
      </p:sp>
      <p:sp>
        <p:nvSpPr>
          <p:cNvPr id="20" name="Rectangle 19">
            <a:extLst>
              <a:ext uri="{FF2B5EF4-FFF2-40B4-BE49-F238E27FC236}">
                <a16:creationId xmlns:a16="http://schemas.microsoft.com/office/drawing/2014/main" id="{E7C6334F-6411-41EC-AD7D-179EDD8B5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1">
            <a:extLst>
              <a:ext uri="{FF2B5EF4-FFF2-40B4-BE49-F238E27FC236}">
                <a16:creationId xmlns:a16="http://schemas.microsoft.com/office/drawing/2014/main" id="{E6B02CEE-3AF8-4349-9B3E-8970E6DF6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3">
            <a:extLst>
              <a:ext uri="{FF2B5EF4-FFF2-40B4-BE49-F238E27FC236}">
                <a16:creationId xmlns:a16="http://schemas.microsoft.com/office/drawing/2014/main" id="{AAA01CF0-3FB5-44EB-B7DE-F2E86374C2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6" name="Picture 5" descr="abstract image">
            <a:extLst>
              <a:ext uri="{FF2B5EF4-FFF2-40B4-BE49-F238E27FC236}">
                <a16:creationId xmlns:a16="http://schemas.microsoft.com/office/drawing/2014/main" id="{F1A8C364-94D4-4630-BAD0-78722F347055}"/>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448733" y="4511709"/>
            <a:ext cx="11260667" cy="1880623"/>
          </a:xfrm>
          <a:prstGeom prst="rect">
            <a:avLst/>
          </a:prstGeom>
        </p:spPr>
      </p:pic>
      <p:sp>
        <p:nvSpPr>
          <p:cNvPr id="3" name="Subtitle 2">
            <a:extLst>
              <a:ext uri="{FF2B5EF4-FFF2-40B4-BE49-F238E27FC236}">
                <a16:creationId xmlns:a16="http://schemas.microsoft.com/office/drawing/2014/main" id="{835D6E6B-3353-491C-A3C6-F278D6CED8B3}"/>
              </a:ext>
            </a:extLst>
          </p:cNvPr>
          <p:cNvSpPr>
            <a:spLocks noGrp="1"/>
          </p:cNvSpPr>
          <p:nvPr>
            <p:ph type="subTitle" idx="1"/>
          </p:nvPr>
        </p:nvSpPr>
        <p:spPr>
          <a:xfrm>
            <a:off x="582290" y="1651819"/>
            <a:ext cx="10993549" cy="2644878"/>
          </a:xfrm>
        </p:spPr>
        <p:txBody>
          <a:bodyPr>
            <a:normAutofit/>
          </a:bodyPr>
          <a:lstStyle/>
          <a:p>
            <a:r>
              <a:rPr lang="en-GB" sz="2000" b="1" cap="none" dirty="0"/>
              <a:t>Name:</a:t>
            </a:r>
            <a:r>
              <a:rPr lang="en-GB" sz="2000" b="1" cap="none" dirty="0">
                <a:solidFill>
                  <a:srgbClr val="7030A0"/>
                </a:solidFill>
              </a:rPr>
              <a:t> </a:t>
            </a:r>
            <a:r>
              <a:rPr lang="en-GB" sz="2000" b="1" cap="none" dirty="0" err="1">
                <a:solidFill>
                  <a:schemeClr val="tx1"/>
                </a:solidFill>
              </a:rPr>
              <a:t>Nikhitha</a:t>
            </a:r>
            <a:r>
              <a:rPr lang="en-GB" sz="2000" b="1" cap="none" dirty="0">
                <a:solidFill>
                  <a:schemeClr val="tx1"/>
                </a:solidFill>
              </a:rPr>
              <a:t> </a:t>
            </a:r>
            <a:r>
              <a:rPr lang="en-GB" sz="2000" b="1" cap="none" dirty="0" err="1">
                <a:solidFill>
                  <a:schemeClr val="tx1"/>
                </a:solidFill>
              </a:rPr>
              <a:t>Yarajarla</a:t>
            </a:r>
            <a:endParaRPr lang="en-GB" sz="2000" b="1" dirty="0">
              <a:solidFill>
                <a:schemeClr val="tx1"/>
              </a:solidFill>
            </a:endParaRPr>
          </a:p>
          <a:p>
            <a:r>
              <a:rPr lang="en-GB" sz="2000" b="1" cap="none" dirty="0" err="1"/>
              <a:t>SkillsBuild</a:t>
            </a:r>
            <a:r>
              <a:rPr lang="en-GB" sz="2000" b="1" cap="none" dirty="0"/>
              <a:t> Email Id</a:t>
            </a:r>
            <a:r>
              <a:rPr lang="en-GB" sz="2000" b="1" dirty="0"/>
              <a:t>: </a:t>
            </a:r>
            <a:r>
              <a:rPr lang="en-GB" sz="2000" b="1" cap="none" dirty="0">
                <a:solidFill>
                  <a:schemeClr val="tx1"/>
                </a:solidFill>
              </a:rPr>
              <a:t>nikhitha_yarajarla@srmap.edu</a:t>
            </a:r>
            <a:r>
              <a:rPr lang="en-GB" sz="2000" b="1" dirty="0">
                <a:solidFill>
                  <a:schemeClr val="tx1"/>
                </a:solidFill>
              </a:rPr>
              <a:t>.</a:t>
            </a:r>
            <a:r>
              <a:rPr lang="en-GB" sz="2000" b="1" cap="none" dirty="0">
                <a:solidFill>
                  <a:schemeClr val="tx1"/>
                </a:solidFill>
              </a:rPr>
              <a:t>in</a:t>
            </a:r>
            <a:endParaRPr lang="en-GB" sz="2000" b="1" dirty="0">
              <a:solidFill>
                <a:schemeClr val="tx1"/>
              </a:solidFill>
            </a:endParaRPr>
          </a:p>
          <a:p>
            <a:r>
              <a:rPr lang="en-GB" sz="2000" b="1" cap="none" dirty="0"/>
              <a:t>University Name</a:t>
            </a:r>
            <a:r>
              <a:rPr lang="en-GB" sz="2000" b="1" dirty="0"/>
              <a:t>: </a:t>
            </a:r>
            <a:r>
              <a:rPr lang="en-GB" sz="2000" b="1" cap="none" dirty="0">
                <a:solidFill>
                  <a:schemeClr val="tx1"/>
                </a:solidFill>
              </a:rPr>
              <a:t>SRM University</a:t>
            </a:r>
            <a:r>
              <a:rPr lang="en-GB" sz="2000" b="1" dirty="0">
                <a:solidFill>
                  <a:schemeClr val="tx1"/>
                </a:solidFill>
              </a:rPr>
              <a:t>, </a:t>
            </a:r>
            <a:r>
              <a:rPr lang="en-GB" sz="2000" b="1" cap="none" dirty="0">
                <a:solidFill>
                  <a:schemeClr val="tx1"/>
                </a:solidFill>
              </a:rPr>
              <a:t>Andhra Pradesh</a:t>
            </a:r>
            <a:endParaRPr lang="en-GB" sz="2000" b="1" dirty="0">
              <a:solidFill>
                <a:schemeClr val="tx1"/>
              </a:solidFill>
            </a:endParaRPr>
          </a:p>
          <a:p>
            <a:r>
              <a:rPr lang="en-GB" sz="2000" b="1" cap="none" dirty="0"/>
              <a:t>Internship Domain: </a:t>
            </a:r>
            <a:r>
              <a:rPr lang="en-GB" sz="2000" b="1" cap="none" dirty="0">
                <a:solidFill>
                  <a:schemeClr val="tx1"/>
                </a:solidFill>
              </a:rPr>
              <a:t>Artificial Intelligence &amp;</a:t>
            </a:r>
            <a:br>
              <a:rPr lang="en-GB" sz="2000" b="1" cap="none" dirty="0">
                <a:solidFill>
                  <a:schemeClr val="tx1"/>
                </a:solidFill>
              </a:rPr>
            </a:br>
            <a:r>
              <a:rPr lang="en-GB" sz="2000" b="1" cap="none" dirty="0">
                <a:solidFill>
                  <a:schemeClr val="tx1"/>
                </a:solidFill>
              </a:rPr>
              <a:t>                                              Machine Learning</a:t>
            </a:r>
            <a:br>
              <a:rPr lang="en-GB" sz="2000" b="1" cap="none" dirty="0">
                <a:solidFill>
                  <a:schemeClr val="tx1"/>
                </a:solidFill>
              </a:rPr>
            </a:br>
            <a:r>
              <a:rPr lang="en-GB" sz="2000" b="1" cap="none" dirty="0">
                <a:solidFill>
                  <a:srgbClr val="7030A0"/>
                </a:solidFill>
              </a:rPr>
              <a:t> </a:t>
            </a:r>
            <a:r>
              <a:rPr lang="en-GB" sz="2000" b="1" cap="none" dirty="0"/>
              <a:t>Internship Start Date And End Date: </a:t>
            </a:r>
            <a:r>
              <a:rPr lang="en-GB" sz="2000" b="1" cap="none" dirty="0">
                <a:solidFill>
                  <a:schemeClr val="tx1"/>
                </a:solidFill>
              </a:rPr>
              <a:t>03/07/2024 to 31/07/2024</a:t>
            </a:r>
            <a:endParaRPr lang="en-GB" sz="2000" b="1" dirty="0">
              <a:solidFill>
                <a:schemeClr val="tx1"/>
              </a:solidFill>
            </a:endParaRPr>
          </a:p>
          <a:p>
            <a:endParaRPr lang="en-GB" cap="none" dirty="0">
              <a:solidFill>
                <a:schemeClr val="accent1">
                  <a:lumMod val="75000"/>
                </a:schemeClr>
              </a:solidFill>
              <a:latin typeface="Arial" panose="020B0604020202020204" pitchFamily="34" charset="0"/>
              <a:cs typeface="Arial" panose="020B0604020202020204" pitchFamily="34" charset="0"/>
            </a:endParaRPr>
          </a:p>
          <a:p>
            <a:endParaRPr lang="en-GB" cap="none" dirty="0">
              <a:solidFill>
                <a:schemeClr val="accent1">
                  <a:lumMod val="75000"/>
                </a:schemeClr>
              </a:solidFill>
              <a:latin typeface="Arial" panose="020B0604020202020204" pitchFamily="34" charset="0"/>
              <a:cs typeface="Arial" panose="020B0604020202020204" pitchFamily="34" charset="0"/>
            </a:endParaRPr>
          </a:p>
          <a:p>
            <a:endParaRPr lang="en-GB" cap="none" dirty="0">
              <a:solidFill>
                <a:schemeClr val="accent1">
                  <a:lumMod val="75000"/>
                </a:schemeClr>
              </a:solidFill>
              <a:latin typeface="Arial" panose="020B0604020202020204" pitchFamily="34" charset="0"/>
              <a:cs typeface="Arial" panose="020B0604020202020204" pitchFamily="34" charset="0"/>
            </a:endParaRPr>
          </a:p>
          <a:p>
            <a:endParaRPr lang="en-GB" cap="none" dirty="0">
              <a:solidFill>
                <a:schemeClr val="accent1">
                  <a:lumMod val="75000"/>
                </a:schemeClr>
              </a:solidFill>
              <a:latin typeface="Arial" panose="020B0604020202020204" pitchFamily="34" charset="0"/>
              <a:cs typeface="Arial" panose="020B0604020202020204" pitchFamily="34" charset="0"/>
            </a:endParaRPr>
          </a:p>
          <a:p>
            <a:endParaRPr lang="en-GB" dirty="0">
              <a:solidFill>
                <a:schemeClr val="accent1">
                  <a:lumMod val="75000"/>
                </a:schemeClr>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88D06883-CBC3-8DB0-C670-433E0F9B3C56}"/>
              </a:ext>
            </a:extLst>
          </p:cNvPr>
          <p:cNvPicPr>
            <a:picLocks noChangeAspect="1"/>
          </p:cNvPicPr>
          <p:nvPr/>
        </p:nvPicPr>
        <p:blipFill>
          <a:blip r:embed="rId3"/>
          <a:stretch>
            <a:fillRect/>
          </a:stretch>
        </p:blipFill>
        <p:spPr>
          <a:xfrm>
            <a:off x="8908026" y="1501159"/>
            <a:ext cx="2202425" cy="2644878"/>
          </a:xfrm>
          <a:prstGeom prst="rect">
            <a:avLst/>
          </a:prstGeom>
        </p:spPr>
      </p:pic>
    </p:spTree>
    <p:extLst>
      <p:ext uri="{BB962C8B-B14F-4D97-AF65-F5344CB8AC3E}">
        <p14:creationId xmlns:p14="http://schemas.microsoft.com/office/powerpoint/2010/main" val="247580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2EC1-B7BF-CE7B-C9A6-7635DA95F4F6}"/>
              </a:ext>
            </a:extLst>
          </p:cNvPr>
          <p:cNvSpPr>
            <a:spLocks noGrp="1"/>
          </p:cNvSpPr>
          <p:nvPr>
            <p:ph type="title"/>
          </p:nvPr>
        </p:nvSpPr>
        <p:spPr>
          <a:xfrm>
            <a:off x="581192" y="702156"/>
            <a:ext cx="11029616" cy="1289204"/>
          </a:xfrm>
        </p:spPr>
        <p:txBody>
          <a:bodyPr>
            <a:normAutofit/>
          </a:bodyPr>
          <a:lstStyle/>
          <a:p>
            <a:r>
              <a:rPr lang="en-GB" sz="3200" dirty="0">
                <a:solidFill>
                  <a:schemeClr val="accent1">
                    <a:lumMod val="75000"/>
                  </a:schemeClr>
                </a:solidFill>
              </a:rPr>
              <a:t>                          </a:t>
            </a:r>
            <a:r>
              <a:rPr lang="en-GB" sz="3200" dirty="0">
                <a:solidFill>
                  <a:schemeClr val="accent1"/>
                </a:solidFill>
              </a:rPr>
              <a:t>Employee burnout prediction</a:t>
            </a:r>
            <a:br>
              <a:rPr lang="en-GB" dirty="0"/>
            </a:br>
            <a:endParaRPr lang="en-US" dirty="0"/>
          </a:p>
        </p:txBody>
      </p:sp>
      <p:sp>
        <p:nvSpPr>
          <p:cNvPr id="3" name="Content Placeholder 2">
            <a:extLst>
              <a:ext uri="{FF2B5EF4-FFF2-40B4-BE49-F238E27FC236}">
                <a16:creationId xmlns:a16="http://schemas.microsoft.com/office/drawing/2014/main" id="{27EBACB0-5504-CAD6-951C-D14217A08A80}"/>
              </a:ext>
            </a:extLst>
          </p:cNvPr>
          <p:cNvSpPr>
            <a:spLocks noGrp="1"/>
          </p:cNvSpPr>
          <p:nvPr>
            <p:ph idx="1"/>
          </p:nvPr>
        </p:nvSpPr>
        <p:spPr>
          <a:xfrm>
            <a:off x="467361" y="1869440"/>
            <a:ext cx="11143448" cy="4286404"/>
          </a:xfrm>
        </p:spPr>
        <p:txBody>
          <a:bodyPr>
            <a:normAutofit/>
          </a:bodyPr>
          <a:lstStyle/>
          <a:p>
            <a:pPr marL="0" indent="0">
              <a:buNone/>
            </a:pPr>
            <a:r>
              <a:rPr lang="en-US" sz="2400" b="1" dirty="0">
                <a:solidFill>
                  <a:schemeClr val="accent1"/>
                </a:solidFill>
              </a:rPr>
              <a:t>PROBLEM STATEMENT:</a:t>
            </a:r>
          </a:p>
          <a:p>
            <a:pPr>
              <a:buFont typeface="Wingdings" panose="05000000000000000000" pitchFamily="2" charset="2"/>
              <a:buChar char="§"/>
            </a:pPr>
            <a:r>
              <a:rPr lang="en-US" sz="2400" dirty="0">
                <a:solidFill>
                  <a:schemeClr val="tx1"/>
                </a:solidFill>
              </a:rPr>
              <a:t>The initiative employs focused interventions based on the analysis to improve employee engagement, develop a healthy work environment, and lessen burnout, all of which contribute to the success and expansion of the organization.</a:t>
            </a:r>
          </a:p>
          <a:p>
            <a:pPr>
              <a:buFont typeface="Wingdings" panose="05000000000000000000" pitchFamily="2" charset="2"/>
              <a:buChar char="§"/>
            </a:pPr>
            <a:r>
              <a:rPr lang="en-US" sz="2400" dirty="0">
                <a:solidFill>
                  <a:schemeClr val="tx1"/>
                </a:solidFill>
              </a:rPr>
              <a:t>Using data-driven insights and predictive modeling, the project examines employee burnout to determine its origins, signs, and risk factors within the company.</a:t>
            </a:r>
          </a:p>
          <a:p>
            <a:pPr marL="0" indent="0">
              <a:buNone/>
            </a:pPr>
            <a:r>
              <a:rPr lang="en-US" sz="2400" dirty="0"/>
              <a:t>  </a:t>
            </a:r>
          </a:p>
        </p:txBody>
      </p:sp>
    </p:spTree>
    <p:extLst>
      <p:ext uri="{BB962C8B-B14F-4D97-AF65-F5344CB8AC3E}">
        <p14:creationId xmlns:p14="http://schemas.microsoft.com/office/powerpoint/2010/main" val="9647667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2EC1-B7BF-CE7B-C9A6-7635DA95F4F6}"/>
              </a:ext>
            </a:extLst>
          </p:cNvPr>
          <p:cNvSpPr>
            <a:spLocks noGrp="1"/>
          </p:cNvSpPr>
          <p:nvPr>
            <p:ph type="title"/>
          </p:nvPr>
        </p:nvSpPr>
        <p:spPr>
          <a:xfrm>
            <a:off x="581192" y="702156"/>
            <a:ext cx="11029616" cy="795048"/>
          </a:xfrm>
        </p:spPr>
        <p:txBody>
          <a:bodyPr anchor="ctr"/>
          <a:lstStyle/>
          <a:p>
            <a:r>
              <a:rPr lang="en-US" dirty="0"/>
              <a:t>                                                </a:t>
            </a:r>
            <a:r>
              <a:rPr lang="en-US" sz="3200" dirty="0">
                <a:solidFill>
                  <a:schemeClr val="accent1"/>
                </a:solidFill>
              </a:rPr>
              <a:t>AGENDA</a:t>
            </a:r>
          </a:p>
        </p:txBody>
      </p:sp>
      <p:sp>
        <p:nvSpPr>
          <p:cNvPr id="4" name="Rectangle 1">
            <a:extLst>
              <a:ext uri="{FF2B5EF4-FFF2-40B4-BE49-F238E27FC236}">
                <a16:creationId xmlns:a16="http://schemas.microsoft.com/office/drawing/2014/main" id="{24EE394C-F5FB-A912-D079-84004397A689}"/>
              </a:ext>
            </a:extLst>
          </p:cNvPr>
          <p:cNvSpPr>
            <a:spLocks noGrp="1" noChangeArrowheads="1"/>
          </p:cNvSpPr>
          <p:nvPr>
            <p:ph idx="1"/>
          </p:nvPr>
        </p:nvSpPr>
        <p:spPr bwMode="auto">
          <a:xfrm>
            <a:off x="581192" y="1639360"/>
            <a:ext cx="9054421" cy="42924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Wingdings" panose="05000000000000000000" pitchFamily="2" charset="2"/>
              <a:buChar char="q"/>
            </a:pPr>
            <a:r>
              <a:rPr lang="en-US" sz="2400" b="1" i="0" dirty="0">
                <a:solidFill>
                  <a:schemeClr val="tx1"/>
                </a:solidFill>
                <a:effectLst/>
              </a:rPr>
              <a:t>Project Overview</a:t>
            </a:r>
          </a:p>
          <a:p>
            <a:pPr>
              <a:buFont typeface="Wingdings" panose="05000000000000000000" pitchFamily="2" charset="2"/>
              <a:buChar char="q"/>
            </a:pPr>
            <a:r>
              <a:rPr lang="en-US" sz="2400" b="1" i="0" dirty="0">
                <a:solidFill>
                  <a:schemeClr val="tx1"/>
                </a:solidFill>
                <a:effectLst/>
              </a:rPr>
              <a:t> End Users</a:t>
            </a:r>
          </a:p>
          <a:p>
            <a:pPr>
              <a:buFont typeface="Wingdings" panose="05000000000000000000" pitchFamily="2" charset="2"/>
              <a:buChar char="q"/>
            </a:pPr>
            <a:r>
              <a:rPr lang="en-US" sz="2400" b="1" i="0" dirty="0">
                <a:solidFill>
                  <a:schemeClr val="tx1"/>
                </a:solidFill>
                <a:effectLst/>
              </a:rPr>
              <a:t> Solution and Value Proposition</a:t>
            </a:r>
          </a:p>
          <a:p>
            <a:pPr>
              <a:buFont typeface="Wingdings" panose="05000000000000000000" pitchFamily="2" charset="2"/>
              <a:buChar char="q"/>
            </a:pPr>
            <a:r>
              <a:rPr lang="en-US" sz="2400" b="1" dirty="0">
                <a:solidFill>
                  <a:schemeClr val="tx1"/>
                </a:solidFill>
              </a:rPr>
              <a:t> </a:t>
            </a:r>
            <a:r>
              <a:rPr lang="en-US" sz="2400" b="1" i="0" dirty="0">
                <a:solidFill>
                  <a:schemeClr val="tx1"/>
                </a:solidFill>
                <a:effectLst/>
              </a:rPr>
              <a:t>Customization for an Organization</a:t>
            </a:r>
          </a:p>
          <a:p>
            <a:pPr>
              <a:buFont typeface="Wingdings" panose="05000000000000000000" pitchFamily="2" charset="2"/>
              <a:buChar char="q"/>
            </a:pPr>
            <a:r>
              <a:rPr lang="en-US" sz="2400" b="1" dirty="0">
                <a:solidFill>
                  <a:schemeClr val="tx1"/>
                </a:solidFill>
              </a:rPr>
              <a:t> </a:t>
            </a:r>
            <a:r>
              <a:rPr lang="en-US" sz="2400" b="1" i="0" dirty="0">
                <a:solidFill>
                  <a:schemeClr val="tx1"/>
                </a:solidFill>
                <a:effectLst/>
              </a:rPr>
              <a:t>Modelling</a:t>
            </a:r>
          </a:p>
          <a:p>
            <a:pPr>
              <a:buFont typeface="Wingdings" panose="05000000000000000000" pitchFamily="2" charset="2"/>
              <a:buChar char="q"/>
            </a:pPr>
            <a:r>
              <a:rPr lang="en-US" sz="2400" b="1" dirty="0">
                <a:solidFill>
                  <a:schemeClr val="tx1"/>
                </a:solidFill>
              </a:rPr>
              <a:t> </a:t>
            </a:r>
            <a:r>
              <a:rPr lang="en-US" sz="2400" b="1" i="0" dirty="0">
                <a:solidFill>
                  <a:schemeClr val="tx1"/>
                </a:solidFill>
                <a:effectLst/>
              </a:rPr>
              <a:t>Results</a:t>
            </a:r>
          </a:p>
          <a:p>
            <a:pPr>
              <a:buFont typeface="Wingdings" panose="05000000000000000000" pitchFamily="2" charset="2"/>
              <a:buChar char="q"/>
            </a:pPr>
            <a:r>
              <a:rPr lang="en-US" sz="2400" b="1" i="0" dirty="0">
                <a:solidFill>
                  <a:schemeClr val="tx1"/>
                </a:solidFill>
                <a:effectLst/>
              </a:rPr>
              <a:t> Links</a:t>
            </a:r>
          </a:p>
          <a:p>
            <a:endParaRPr lang="en-US" sz="2000" dirty="0"/>
          </a:p>
        </p:txBody>
      </p:sp>
    </p:spTree>
    <p:extLst>
      <p:ext uri="{BB962C8B-B14F-4D97-AF65-F5344CB8AC3E}">
        <p14:creationId xmlns:p14="http://schemas.microsoft.com/office/powerpoint/2010/main" val="21168255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2EC1-B7BF-CE7B-C9A6-7635DA95F4F6}"/>
              </a:ext>
            </a:extLst>
          </p:cNvPr>
          <p:cNvSpPr>
            <a:spLocks noGrp="1"/>
          </p:cNvSpPr>
          <p:nvPr>
            <p:ph type="title"/>
          </p:nvPr>
        </p:nvSpPr>
        <p:spPr/>
        <p:txBody>
          <a:bodyPr anchor="ctr">
            <a:normAutofit/>
          </a:bodyPr>
          <a:lstStyle/>
          <a:p>
            <a:r>
              <a:rPr lang="en-US" sz="3200" dirty="0">
                <a:solidFill>
                  <a:schemeClr val="accent1">
                    <a:lumMod val="75000"/>
                  </a:schemeClr>
                </a:solidFill>
              </a:rPr>
              <a:t>                                 </a:t>
            </a:r>
            <a:r>
              <a:rPr lang="en-US" sz="3200" dirty="0">
                <a:solidFill>
                  <a:schemeClr val="accent1"/>
                </a:solidFill>
              </a:rPr>
              <a:t>PROJECT  OVERVIEW</a:t>
            </a:r>
          </a:p>
        </p:txBody>
      </p:sp>
      <p:sp>
        <p:nvSpPr>
          <p:cNvPr id="3" name="Content Placeholder 2">
            <a:extLst>
              <a:ext uri="{FF2B5EF4-FFF2-40B4-BE49-F238E27FC236}">
                <a16:creationId xmlns:a16="http://schemas.microsoft.com/office/drawing/2014/main" id="{27EBACB0-5504-CAD6-951C-D14217A08A80}"/>
              </a:ext>
            </a:extLst>
          </p:cNvPr>
          <p:cNvSpPr>
            <a:spLocks noGrp="1"/>
          </p:cNvSpPr>
          <p:nvPr>
            <p:ph idx="1"/>
          </p:nvPr>
        </p:nvSpPr>
        <p:spPr>
          <a:xfrm>
            <a:off x="581192" y="2428240"/>
            <a:ext cx="11029615" cy="3486820"/>
          </a:xfrm>
        </p:spPr>
        <p:txBody>
          <a:bodyPr>
            <a:noAutofit/>
          </a:bodyPr>
          <a:lstStyle/>
          <a:p>
            <a:pPr>
              <a:buFont typeface="Wingdings" panose="05000000000000000000" pitchFamily="2" charset="2"/>
              <a:buChar char="§"/>
            </a:pPr>
            <a:r>
              <a:rPr lang="en-US" sz="2000" dirty="0">
                <a:solidFill>
                  <a:schemeClr val="tx1"/>
                </a:solidFill>
              </a:rPr>
              <a:t>A condition of extreme and protracted stress-related physical, emotional, and mental tiredness is known as employee burnout. It may have detrimental effects on a person's health as well as lower output and performance at work. Maintaining the health and well-being of employees in today's fast-paced, always-connected society requires recognizing and addressing the warning symptoms of burnout. We'll investigate how regression analysis can be used to forecast staff burnout.</a:t>
            </a:r>
            <a:br>
              <a:rPr lang="en-US" sz="2000" dirty="0">
                <a:solidFill>
                  <a:schemeClr val="tx1"/>
                </a:solidFill>
              </a:rPr>
            </a:br>
            <a:endParaRPr lang="en-US" sz="2000" dirty="0">
              <a:solidFill>
                <a:schemeClr val="tx1"/>
              </a:solidFill>
            </a:endParaRPr>
          </a:p>
          <a:p>
            <a:pPr>
              <a:buFont typeface="Wingdings" panose="05000000000000000000" pitchFamily="2" charset="2"/>
              <a:buChar char="§"/>
            </a:pPr>
            <a:r>
              <a:rPr lang="en-US" sz="2000" dirty="0">
                <a:solidFill>
                  <a:schemeClr val="tx1"/>
                </a:solidFill>
              </a:rPr>
              <a:t>We can build a model to identify people at risk of burnout by analyzing a dataset comprising several aspects that may contribute to burnout, such as workload, mental exhaustion, job, and work-life balance. Organizations can assist in preventing burnout and support employee well-being by proactively addressing these risk factors.</a:t>
            </a:r>
            <a:br>
              <a:rPr lang="en-US" sz="2000" dirty="0">
                <a:solidFill>
                  <a:schemeClr val="tx1"/>
                </a:solidFill>
              </a:rPr>
            </a:br>
            <a:br>
              <a:rPr lang="en-US" sz="2000" dirty="0">
                <a:solidFill>
                  <a:schemeClr val="tx1"/>
                </a:solidFill>
              </a:rPr>
            </a:br>
            <a:endParaRPr lang="en-US" sz="2000" dirty="0">
              <a:solidFill>
                <a:schemeClr val="tx1"/>
              </a:solidFill>
            </a:endParaRPr>
          </a:p>
        </p:txBody>
      </p:sp>
    </p:spTree>
    <p:extLst>
      <p:ext uri="{BB962C8B-B14F-4D97-AF65-F5344CB8AC3E}">
        <p14:creationId xmlns:p14="http://schemas.microsoft.com/office/powerpoint/2010/main" val="5846532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2EC1-B7BF-CE7B-C9A6-7635DA95F4F6}"/>
              </a:ext>
            </a:extLst>
          </p:cNvPr>
          <p:cNvSpPr>
            <a:spLocks noGrp="1"/>
          </p:cNvSpPr>
          <p:nvPr>
            <p:ph type="title"/>
          </p:nvPr>
        </p:nvSpPr>
        <p:spPr/>
        <p:txBody>
          <a:bodyPr anchor="ctr"/>
          <a:lstStyle/>
          <a:p>
            <a:r>
              <a:rPr lang="en-US" sz="3200" dirty="0"/>
              <a:t>            </a:t>
            </a:r>
            <a:r>
              <a:rPr lang="en-US" sz="3200" dirty="0">
                <a:solidFill>
                  <a:schemeClr val="accent1"/>
                </a:solidFill>
              </a:rPr>
              <a:t>WHO ARE THE END USERS of this project?</a:t>
            </a:r>
          </a:p>
        </p:txBody>
      </p:sp>
      <p:sp>
        <p:nvSpPr>
          <p:cNvPr id="3" name="Content Placeholder 2">
            <a:extLst>
              <a:ext uri="{FF2B5EF4-FFF2-40B4-BE49-F238E27FC236}">
                <a16:creationId xmlns:a16="http://schemas.microsoft.com/office/drawing/2014/main" id="{27EBACB0-5504-CAD6-951C-D14217A08A80}"/>
              </a:ext>
            </a:extLst>
          </p:cNvPr>
          <p:cNvSpPr>
            <a:spLocks noGrp="1"/>
          </p:cNvSpPr>
          <p:nvPr>
            <p:ph idx="1"/>
          </p:nvPr>
        </p:nvSpPr>
        <p:spPr>
          <a:xfrm>
            <a:off x="682792" y="1778000"/>
            <a:ext cx="11029615" cy="4582160"/>
          </a:xfrm>
        </p:spPr>
        <p:txBody>
          <a:bodyPr>
            <a:normAutofit/>
          </a:bodyPr>
          <a:lstStyle/>
          <a:p>
            <a:pPr algn="l">
              <a:buFont typeface="Wingdings" panose="05000000000000000000" pitchFamily="2" charset="2"/>
              <a:buChar char="§"/>
            </a:pPr>
            <a:r>
              <a:rPr lang="en-US" sz="2400" b="1" i="0" dirty="0">
                <a:solidFill>
                  <a:schemeClr val="tx1">
                    <a:lumMod val="95000"/>
                    <a:lumOff val="5000"/>
                  </a:schemeClr>
                </a:solidFill>
                <a:effectLst/>
              </a:rPr>
              <a:t>Organization Leadership: </a:t>
            </a:r>
            <a:r>
              <a:rPr lang="en-US" sz="2400" i="0" dirty="0">
                <a:solidFill>
                  <a:schemeClr val="tx1"/>
                </a:solidFill>
                <a:effectLst/>
              </a:rPr>
              <a:t>Uses predictive insights to make strategic decisions to enhance employee well-being and organizational performance</a:t>
            </a:r>
            <a:r>
              <a:rPr lang="en-US" sz="2400" b="1" i="0" dirty="0">
                <a:solidFill>
                  <a:schemeClr val="tx1"/>
                </a:solidFill>
                <a:effectLst/>
              </a:rPr>
              <a:t>.</a:t>
            </a:r>
            <a:r>
              <a:rPr lang="en-US" sz="2400" dirty="0">
                <a:solidFill>
                  <a:schemeClr val="tx1"/>
                </a:solidFill>
              </a:rPr>
              <a:t>.</a:t>
            </a:r>
            <a:endParaRPr lang="en-US" sz="2400" b="1" i="0" dirty="0">
              <a:solidFill>
                <a:schemeClr val="tx1"/>
              </a:solidFill>
              <a:effectLst/>
            </a:endParaRPr>
          </a:p>
          <a:p>
            <a:pPr algn="l">
              <a:buFont typeface="Wingdings" panose="05000000000000000000" pitchFamily="2" charset="2"/>
              <a:buChar char="§"/>
            </a:pPr>
            <a:r>
              <a:rPr lang="en-US" sz="2400" b="1" i="0" dirty="0">
                <a:solidFill>
                  <a:schemeClr val="tx1"/>
                </a:solidFill>
                <a:effectLst/>
              </a:rPr>
              <a:t>Human Resources (HR) Department: </a:t>
            </a:r>
            <a:r>
              <a:rPr lang="en-US" sz="2400" i="0" dirty="0">
                <a:solidFill>
                  <a:schemeClr val="tx1"/>
                </a:solidFill>
                <a:effectLst/>
              </a:rPr>
              <a:t>Implements targeted interventions to reduce burnout and improve employee satisfaction and retention</a:t>
            </a:r>
            <a:r>
              <a:rPr lang="en-US" sz="2400" b="1" i="0" dirty="0">
                <a:solidFill>
                  <a:schemeClr val="tx1"/>
                </a:solidFill>
                <a:effectLst/>
              </a:rPr>
              <a:t>.</a:t>
            </a:r>
          </a:p>
          <a:p>
            <a:pPr algn="l">
              <a:buFont typeface="Wingdings" panose="05000000000000000000" pitchFamily="2" charset="2"/>
              <a:buChar char="§"/>
            </a:pPr>
            <a:r>
              <a:rPr lang="en-US" sz="2400" b="1" i="0" dirty="0">
                <a:solidFill>
                  <a:schemeClr val="tx1"/>
                </a:solidFill>
                <a:effectLst/>
              </a:rPr>
              <a:t>Managers and Supervisors: </a:t>
            </a:r>
            <a:r>
              <a:rPr lang="en-US" sz="2400" i="0" dirty="0">
                <a:solidFill>
                  <a:schemeClr val="tx1"/>
                </a:solidFill>
                <a:effectLst/>
              </a:rPr>
              <a:t>Identifies at-risk employees and takes proactive steps to support their teams and prevent burnout</a:t>
            </a:r>
          </a:p>
          <a:p>
            <a:pPr algn="l">
              <a:buFont typeface="Wingdings" panose="05000000000000000000" pitchFamily="2" charset="2"/>
              <a:buChar char="§"/>
            </a:pPr>
            <a:r>
              <a:rPr lang="en-US" sz="2400" b="1" i="0" dirty="0">
                <a:solidFill>
                  <a:schemeClr val="tx1"/>
                </a:solidFill>
                <a:effectLst/>
              </a:rPr>
              <a:t>Employees: </a:t>
            </a:r>
            <a:r>
              <a:rPr lang="en-US" sz="2400" i="0" dirty="0">
                <a:solidFill>
                  <a:schemeClr val="tx1"/>
                </a:solidFill>
                <a:effectLst/>
              </a:rPr>
              <a:t>Gains awareness of their own risk factors and receive support to maintain a healthy work-life balance.</a:t>
            </a:r>
          </a:p>
          <a:p>
            <a:pPr>
              <a:buFont typeface="Wingdings" panose="05000000000000000000" pitchFamily="2" charset="2"/>
              <a:buChar char="§"/>
            </a:pPr>
            <a:endParaRPr lang="en-US" dirty="0"/>
          </a:p>
        </p:txBody>
      </p:sp>
    </p:spTree>
    <p:extLst>
      <p:ext uri="{BB962C8B-B14F-4D97-AF65-F5344CB8AC3E}">
        <p14:creationId xmlns:p14="http://schemas.microsoft.com/office/powerpoint/2010/main" val="728542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2EC1-B7BF-CE7B-C9A6-7635DA95F4F6}"/>
              </a:ext>
            </a:extLst>
          </p:cNvPr>
          <p:cNvSpPr>
            <a:spLocks noGrp="1"/>
          </p:cNvSpPr>
          <p:nvPr>
            <p:ph type="title"/>
          </p:nvPr>
        </p:nvSpPr>
        <p:spPr>
          <a:xfrm>
            <a:off x="581191" y="493812"/>
            <a:ext cx="11029616" cy="1188720"/>
          </a:xfrm>
        </p:spPr>
        <p:txBody>
          <a:bodyPr anchor="ctr"/>
          <a:lstStyle/>
          <a:p>
            <a:br>
              <a:rPr lang="en-US" sz="2800" dirty="0"/>
            </a:br>
            <a:r>
              <a:rPr lang="en-US" sz="2800" dirty="0"/>
              <a:t>                </a:t>
            </a:r>
            <a:r>
              <a:rPr lang="en-US" sz="3200" dirty="0">
                <a:solidFill>
                  <a:schemeClr val="accent1"/>
                </a:solidFill>
              </a:rPr>
              <a:t>YOUR SOLUTION AND ITS VALUE PROPOSITION</a:t>
            </a:r>
          </a:p>
        </p:txBody>
      </p:sp>
      <p:sp>
        <p:nvSpPr>
          <p:cNvPr id="3" name="Content Placeholder 2">
            <a:extLst>
              <a:ext uri="{FF2B5EF4-FFF2-40B4-BE49-F238E27FC236}">
                <a16:creationId xmlns:a16="http://schemas.microsoft.com/office/drawing/2014/main" id="{27EBACB0-5504-CAD6-951C-D14217A08A80}"/>
              </a:ext>
            </a:extLst>
          </p:cNvPr>
          <p:cNvSpPr>
            <a:spLocks noGrp="1"/>
          </p:cNvSpPr>
          <p:nvPr>
            <p:ph idx="1"/>
          </p:nvPr>
        </p:nvSpPr>
        <p:spPr>
          <a:xfrm>
            <a:off x="581191" y="1682532"/>
            <a:ext cx="11029615" cy="4334810"/>
          </a:xfrm>
        </p:spPr>
        <p:txBody>
          <a:bodyPr>
            <a:normAutofit/>
          </a:bodyPr>
          <a:lstStyle/>
          <a:p>
            <a:pPr marL="0" indent="0">
              <a:buNone/>
            </a:pPr>
            <a:r>
              <a:rPr lang="en-US" sz="3200" b="1" dirty="0">
                <a:solidFill>
                  <a:schemeClr val="tx1"/>
                </a:solidFill>
              </a:rPr>
              <a:t>Solution: </a:t>
            </a:r>
          </a:p>
          <a:p>
            <a:pPr marL="0" indent="0">
              <a:buNone/>
            </a:pPr>
            <a:r>
              <a:rPr lang="en-US" sz="2400" b="1" dirty="0"/>
              <a:t>                       </a:t>
            </a:r>
            <a:r>
              <a:rPr lang="en-US" sz="2400" dirty="0">
                <a:solidFill>
                  <a:schemeClr val="tx1"/>
                </a:solidFill>
              </a:rPr>
              <a:t>The solution is to use linear regression to build a predictive model that can forecast and analyze employee burnout rates. Based on a dataset from Kaggle, this model analyses a variety of employee-related variables, including Employee ID, Date of Joining, Gender, Company Type, Availability of WFH Setup, Designation, Allocation of Resources, Mental Fatigue Score, and Burn Rate. </a:t>
            </a:r>
          </a:p>
        </p:txBody>
      </p:sp>
    </p:spTree>
    <p:extLst>
      <p:ext uri="{BB962C8B-B14F-4D97-AF65-F5344CB8AC3E}">
        <p14:creationId xmlns:p14="http://schemas.microsoft.com/office/powerpoint/2010/main" val="20768512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2EC1-B7BF-CE7B-C9A6-7635DA95F4F6}"/>
              </a:ext>
            </a:extLst>
          </p:cNvPr>
          <p:cNvSpPr>
            <a:spLocks noGrp="1"/>
          </p:cNvSpPr>
          <p:nvPr>
            <p:ph type="title"/>
          </p:nvPr>
        </p:nvSpPr>
        <p:spPr>
          <a:xfrm>
            <a:off x="581191" y="493812"/>
            <a:ext cx="11029616" cy="223943"/>
          </a:xfrm>
        </p:spPr>
        <p:txBody>
          <a:bodyPr anchor="ctr">
            <a:normAutofit fontScale="90000"/>
          </a:bodyPr>
          <a:lstStyle/>
          <a:p>
            <a:r>
              <a:rPr lang="en-US" sz="3200" b="1" dirty="0">
                <a:solidFill>
                  <a:schemeClr val="accent1">
                    <a:lumMod val="75000"/>
                  </a:schemeClr>
                </a:solidFill>
              </a:rPr>
              <a:t>                                </a:t>
            </a:r>
            <a:endParaRPr lang="en-US" sz="3200" dirty="0">
              <a:solidFill>
                <a:schemeClr val="accent1">
                  <a:lumMod val="75000"/>
                </a:schemeClr>
              </a:solidFill>
            </a:endParaRPr>
          </a:p>
        </p:txBody>
      </p:sp>
      <p:sp>
        <p:nvSpPr>
          <p:cNvPr id="3" name="Content Placeholder 2">
            <a:extLst>
              <a:ext uri="{FF2B5EF4-FFF2-40B4-BE49-F238E27FC236}">
                <a16:creationId xmlns:a16="http://schemas.microsoft.com/office/drawing/2014/main" id="{27EBACB0-5504-CAD6-951C-D14217A08A80}"/>
              </a:ext>
            </a:extLst>
          </p:cNvPr>
          <p:cNvSpPr>
            <a:spLocks noGrp="1"/>
          </p:cNvSpPr>
          <p:nvPr>
            <p:ph idx="1"/>
          </p:nvPr>
        </p:nvSpPr>
        <p:spPr>
          <a:xfrm>
            <a:off x="501445" y="1268361"/>
            <a:ext cx="11109361" cy="4650657"/>
          </a:xfrm>
        </p:spPr>
        <p:txBody>
          <a:bodyPr>
            <a:normAutofit/>
          </a:bodyPr>
          <a:lstStyle/>
          <a:p>
            <a:pPr marL="0" indent="0">
              <a:buNone/>
            </a:pPr>
            <a:r>
              <a:rPr lang="en-US" sz="3200" b="1" dirty="0">
                <a:solidFill>
                  <a:schemeClr val="tx1"/>
                </a:solidFill>
              </a:rPr>
              <a:t>Value Proposition:</a:t>
            </a:r>
          </a:p>
          <a:p>
            <a:pPr>
              <a:buFont typeface="Wingdings" panose="05000000000000000000" pitchFamily="2" charset="2"/>
              <a:buChar char="§"/>
            </a:pPr>
            <a:r>
              <a:rPr lang="en-US" sz="2400" b="1" dirty="0">
                <a:solidFill>
                  <a:schemeClr val="tx1"/>
                </a:solidFill>
              </a:rPr>
              <a:t>Enhanced Employee Well-Being: </a:t>
            </a:r>
            <a:r>
              <a:rPr lang="en-US" sz="2400" dirty="0">
                <a:solidFill>
                  <a:schemeClr val="tx1"/>
                </a:solidFill>
              </a:rPr>
              <a:t>Promotes a healthier work environment</a:t>
            </a:r>
            <a:r>
              <a:rPr lang="en-US" sz="2400" dirty="0"/>
              <a:t>.</a:t>
            </a:r>
          </a:p>
          <a:p>
            <a:pPr>
              <a:buFont typeface="Wingdings" panose="05000000000000000000" pitchFamily="2" charset="2"/>
              <a:buChar char="§"/>
            </a:pPr>
            <a:r>
              <a:rPr lang="en-US" sz="2400" b="1" dirty="0">
                <a:solidFill>
                  <a:schemeClr val="tx1"/>
                </a:solidFill>
              </a:rPr>
              <a:t>Improved Productivity: </a:t>
            </a:r>
            <a:r>
              <a:rPr lang="en-US" sz="2400" dirty="0">
                <a:solidFill>
                  <a:schemeClr val="tx1"/>
                </a:solidFill>
              </a:rPr>
              <a:t>Healthy, motivated employees are more productive.</a:t>
            </a:r>
          </a:p>
          <a:p>
            <a:pPr>
              <a:buFont typeface="Wingdings" panose="05000000000000000000" pitchFamily="2" charset="2"/>
              <a:buChar char="§"/>
            </a:pPr>
            <a:r>
              <a:rPr lang="en-US" sz="2400" b="1" dirty="0">
                <a:solidFill>
                  <a:schemeClr val="tx1"/>
                </a:solidFill>
              </a:rPr>
              <a:t>Data-Driven Decision Making:</a:t>
            </a:r>
            <a:r>
              <a:rPr lang="en-US" sz="2400" b="1" dirty="0"/>
              <a:t> </a:t>
            </a:r>
            <a:r>
              <a:rPr lang="en-US" sz="2400" dirty="0">
                <a:solidFill>
                  <a:schemeClr val="tx1"/>
                </a:solidFill>
              </a:rPr>
              <a:t>Empowers HR and management with actionable insights.</a:t>
            </a:r>
          </a:p>
          <a:p>
            <a:pPr marL="0" indent="0">
              <a:buNone/>
            </a:pPr>
            <a:endParaRPr lang="en-US" sz="1800" dirty="0"/>
          </a:p>
        </p:txBody>
      </p:sp>
    </p:spTree>
    <p:extLst>
      <p:ext uri="{BB962C8B-B14F-4D97-AF65-F5344CB8AC3E}">
        <p14:creationId xmlns:p14="http://schemas.microsoft.com/office/powerpoint/2010/main" val="3038754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2EC1-B7BF-CE7B-C9A6-7635DA95F4F6}"/>
              </a:ext>
            </a:extLst>
          </p:cNvPr>
          <p:cNvSpPr>
            <a:spLocks noGrp="1"/>
          </p:cNvSpPr>
          <p:nvPr>
            <p:ph type="title"/>
          </p:nvPr>
        </p:nvSpPr>
        <p:spPr>
          <a:xfrm>
            <a:off x="471948" y="493812"/>
            <a:ext cx="11138859" cy="1177672"/>
          </a:xfrm>
        </p:spPr>
        <p:txBody>
          <a:bodyPr anchor="ctr">
            <a:normAutofit/>
          </a:bodyPr>
          <a:lstStyle/>
          <a:p>
            <a:r>
              <a:rPr lang="en-US" dirty="0">
                <a:solidFill>
                  <a:schemeClr val="accent1"/>
                </a:solidFill>
              </a:rPr>
              <a:t>How did you customize the project and make it your own</a:t>
            </a:r>
          </a:p>
        </p:txBody>
      </p:sp>
      <p:sp>
        <p:nvSpPr>
          <p:cNvPr id="5" name="Rectangle 2">
            <a:extLst>
              <a:ext uri="{FF2B5EF4-FFF2-40B4-BE49-F238E27FC236}">
                <a16:creationId xmlns:a16="http://schemas.microsoft.com/office/drawing/2014/main" id="{B15C47C0-AD8D-7B8B-CFB7-386453BF3A04}"/>
              </a:ext>
            </a:extLst>
          </p:cNvPr>
          <p:cNvSpPr>
            <a:spLocks noGrp="1" noChangeArrowheads="1"/>
          </p:cNvSpPr>
          <p:nvPr>
            <p:ph idx="1"/>
          </p:nvPr>
        </p:nvSpPr>
        <p:spPr bwMode="auto">
          <a:xfrm>
            <a:off x="581193" y="1594796"/>
            <a:ext cx="10578932" cy="4678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SzTx/>
              <a:buFont typeface="Wingdings" panose="05000000000000000000" pitchFamily="2" charset="2"/>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Understanding the Organizational Context:</a:t>
            </a:r>
            <a:r>
              <a:rPr kumimoji="0" lang="en-US" altLang="en-US" sz="2000" b="0" i="0" u="none" strike="noStrike" cap="none" normalizeH="0" baseline="0" dirty="0">
                <a:ln>
                  <a:noFill/>
                </a:ln>
                <a:solidFill>
                  <a:schemeClr val="tx1"/>
                </a:solidFill>
                <a:effectLst/>
                <a:latin typeface="Arial" panose="020B0604020202020204" pitchFamily="34" charset="0"/>
              </a:rPr>
              <a:t> Tailor the system to fit the organization’s unique environment and dynamics.</a:t>
            </a:r>
          </a:p>
          <a:p>
            <a:pPr marL="0" marR="0" lvl="0" indent="0" algn="l" defTabSz="914400" rtl="0" eaLnBrk="0" fontAlgn="base" latinLnBrk="0" hangingPunct="0">
              <a:lnSpc>
                <a:spcPct val="100000"/>
              </a:lnSpc>
              <a:spcBef>
                <a:spcPct val="0"/>
              </a:spcBef>
              <a:spcAft>
                <a:spcPct val="0"/>
              </a:spcAft>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SzTx/>
              <a:buFont typeface="Wingdings" panose="05000000000000000000" pitchFamily="2" charset="2"/>
              <a:buChar char="§"/>
              <a:tabLst/>
            </a:pPr>
            <a:r>
              <a:rPr lang="en-US" altLang="en-US" sz="2000" b="1" dirty="0">
                <a:solidFill>
                  <a:schemeClr val="tx1"/>
                </a:solidFill>
                <a:latin typeface="Arial" panose="020B0604020202020204" pitchFamily="34" charset="0"/>
              </a:rPr>
              <a:t>U</a:t>
            </a:r>
            <a:r>
              <a:rPr kumimoji="0" lang="en-US" altLang="en-US" sz="2000" b="1" i="0" u="none" strike="noStrike" cap="none" normalizeH="0" baseline="0" dirty="0">
                <a:ln>
                  <a:noFill/>
                </a:ln>
                <a:solidFill>
                  <a:schemeClr val="tx1"/>
                </a:solidFill>
                <a:effectLst/>
                <a:latin typeface="Arial" panose="020B0604020202020204" pitchFamily="34" charset="0"/>
              </a:rPr>
              <a:t>tilizing Advanced Data Processing Techniques:</a:t>
            </a:r>
            <a:r>
              <a:rPr kumimoji="0" lang="en-US" altLang="en-US" sz="2000" b="0" i="0" u="none" strike="noStrike" cap="none" normalizeH="0" baseline="0" dirty="0">
                <a:ln>
                  <a:noFill/>
                </a:ln>
                <a:solidFill>
                  <a:schemeClr val="tx1"/>
                </a:solidFill>
                <a:effectLst/>
                <a:latin typeface="Arial" panose="020B0604020202020204" pitchFamily="34" charset="0"/>
              </a:rPr>
              <a:t> Use sophisticated methods for handling and analyzing complex datasets.</a:t>
            </a:r>
          </a:p>
          <a:p>
            <a:pPr marL="0" marR="0" lvl="0" indent="0" algn="l" defTabSz="914400" rtl="0" eaLnBrk="0" fontAlgn="base" latinLnBrk="0" hangingPunct="0">
              <a:lnSpc>
                <a:spcPct val="100000"/>
              </a:lnSpc>
              <a:spcBef>
                <a:spcPct val="0"/>
              </a:spcBef>
              <a:spcAft>
                <a:spcPct val="0"/>
              </a:spcAft>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SzTx/>
              <a:buFont typeface="Wingdings" panose="05000000000000000000" pitchFamily="2" charset="2"/>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Selecting and Adapting the Right Model:</a:t>
            </a:r>
            <a:r>
              <a:rPr kumimoji="0" lang="en-US" altLang="en-US" sz="2000" b="0" i="0" u="none" strike="noStrike" cap="none" normalizeH="0" baseline="0" dirty="0">
                <a:ln>
                  <a:noFill/>
                </a:ln>
                <a:solidFill>
                  <a:schemeClr val="tx1"/>
                </a:solidFill>
                <a:effectLst/>
                <a:latin typeface="Arial" panose="020B0604020202020204" pitchFamily="34" charset="0"/>
              </a:rPr>
              <a:t> Choose and fine-tune models to meet specific prediction needs.</a:t>
            </a:r>
          </a:p>
          <a:p>
            <a:pPr marL="0" marR="0" lvl="0" indent="0" algn="l" defTabSz="914400" rtl="0" eaLnBrk="0" fontAlgn="base" latinLnBrk="0" hangingPunct="0">
              <a:lnSpc>
                <a:spcPct val="100000"/>
              </a:lnSpc>
              <a:spcBef>
                <a:spcPct val="0"/>
              </a:spcBef>
              <a:spcAft>
                <a:spcPct val="0"/>
              </a:spcAft>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SzTx/>
              <a:buFont typeface="Wingdings" panose="05000000000000000000" pitchFamily="2" charset="2"/>
              <a:buChar char="§"/>
              <a:tabLst/>
            </a:pPr>
            <a:r>
              <a:rPr lang="en-US" altLang="en-US" sz="2000" b="1" dirty="0">
                <a:solidFill>
                  <a:schemeClr val="tx1"/>
                </a:solidFill>
                <a:latin typeface="Arial" panose="020B0604020202020204" pitchFamily="34" charset="0"/>
              </a:rPr>
              <a:t>I</a:t>
            </a:r>
            <a:r>
              <a:rPr kumimoji="0" lang="en-US" altLang="en-US" sz="2000" b="1" i="0" u="none" strike="noStrike" cap="none" normalizeH="0" baseline="0" dirty="0">
                <a:ln>
                  <a:noFill/>
                </a:ln>
                <a:solidFill>
                  <a:schemeClr val="tx1"/>
                </a:solidFill>
                <a:effectLst/>
                <a:latin typeface="Arial" panose="020B0604020202020204" pitchFamily="34" charset="0"/>
              </a:rPr>
              <a:t>ncorporating Psychological Factors:</a:t>
            </a:r>
            <a:r>
              <a:rPr kumimoji="0" lang="en-US" altLang="en-US" sz="2000" b="0" i="0" u="none" strike="noStrike" cap="none" normalizeH="0" baseline="0" dirty="0">
                <a:ln>
                  <a:noFill/>
                </a:ln>
                <a:solidFill>
                  <a:schemeClr val="tx1"/>
                </a:solidFill>
                <a:effectLst/>
                <a:latin typeface="Arial" panose="020B0604020202020204" pitchFamily="34" charset="0"/>
              </a:rPr>
              <a:t> Integrate psychological aspects for a comprehensive view of burnout.</a:t>
            </a:r>
          </a:p>
          <a:p>
            <a:pPr marL="0" marR="0" lvl="0" indent="0" algn="l" defTabSz="914400" rtl="0" eaLnBrk="0" fontAlgn="base" latinLnBrk="0" hangingPunct="0">
              <a:lnSpc>
                <a:spcPct val="100000"/>
              </a:lnSpc>
              <a:spcBef>
                <a:spcPct val="0"/>
              </a:spcBef>
              <a:spcAft>
                <a:spcPct val="0"/>
              </a:spcAft>
              <a:buSz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SzTx/>
              <a:buFont typeface="Wingdings" panose="05000000000000000000" pitchFamily="2" charset="2"/>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Establishing Continuous Improvement Practices:</a:t>
            </a:r>
            <a:r>
              <a:rPr kumimoji="0" lang="en-US" altLang="en-US" sz="2000" b="0" i="0" u="none" strike="noStrike" cap="none" normalizeH="0" baseline="0" dirty="0">
                <a:ln>
                  <a:noFill/>
                </a:ln>
                <a:solidFill>
                  <a:schemeClr val="tx1"/>
                </a:solidFill>
                <a:effectLst/>
                <a:latin typeface="Arial" panose="020B0604020202020204" pitchFamily="34" charset="0"/>
              </a:rPr>
              <a:t> Set up processes for regular evaluation and system enhancement.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573865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2EC1-B7BF-CE7B-C9A6-7635DA95F4F6}"/>
              </a:ext>
            </a:extLst>
          </p:cNvPr>
          <p:cNvSpPr>
            <a:spLocks noGrp="1"/>
          </p:cNvSpPr>
          <p:nvPr>
            <p:ph type="title"/>
          </p:nvPr>
        </p:nvSpPr>
        <p:spPr>
          <a:xfrm rot="10800000" flipV="1">
            <a:off x="510853" y="802640"/>
            <a:ext cx="11029615" cy="905078"/>
          </a:xfrm>
        </p:spPr>
        <p:txBody>
          <a:bodyPr anchor="ctr">
            <a:normAutofit/>
          </a:bodyPr>
          <a:lstStyle/>
          <a:p>
            <a:r>
              <a:rPr lang="en-US" dirty="0">
                <a:solidFill>
                  <a:schemeClr val="accent1">
                    <a:lumMod val="75000"/>
                  </a:schemeClr>
                </a:solidFill>
              </a:rPr>
              <a:t>                                             </a:t>
            </a:r>
            <a:r>
              <a:rPr lang="en-US" sz="3200" dirty="0">
                <a:solidFill>
                  <a:schemeClr val="accent1"/>
                </a:solidFill>
              </a:rPr>
              <a:t>MODELLING</a:t>
            </a:r>
          </a:p>
        </p:txBody>
      </p:sp>
      <p:sp>
        <p:nvSpPr>
          <p:cNvPr id="6" name="Content Placeholder 5">
            <a:extLst>
              <a:ext uri="{FF2B5EF4-FFF2-40B4-BE49-F238E27FC236}">
                <a16:creationId xmlns:a16="http://schemas.microsoft.com/office/drawing/2014/main" id="{E18F8C5D-C975-FC98-405D-0C9ADDA7CCB5}"/>
              </a:ext>
            </a:extLst>
          </p:cNvPr>
          <p:cNvSpPr>
            <a:spLocks noGrp="1"/>
          </p:cNvSpPr>
          <p:nvPr>
            <p:ph idx="1"/>
          </p:nvPr>
        </p:nvSpPr>
        <p:spPr>
          <a:xfrm>
            <a:off x="581193" y="1461813"/>
            <a:ext cx="11029615" cy="4948819"/>
          </a:xfrm>
        </p:spPr>
        <p:txBody>
          <a:bodyPr>
            <a:normAutofit/>
          </a:bodyPr>
          <a:lstStyle/>
          <a:p>
            <a:pPr marL="0" indent="0">
              <a:buNone/>
            </a:pPr>
            <a:r>
              <a:rPr lang="en-IN" sz="2400" b="1" dirty="0">
                <a:solidFill>
                  <a:schemeClr val="tx1"/>
                </a:solidFill>
              </a:rPr>
              <a:t>     </a:t>
            </a:r>
            <a:br>
              <a:rPr lang="en-IN" b="1" dirty="0">
                <a:solidFill>
                  <a:schemeClr val="tx1"/>
                </a:solidFill>
              </a:rPr>
            </a:br>
            <a:br>
              <a:rPr lang="en-IN" b="1" dirty="0">
                <a:solidFill>
                  <a:schemeClr val="tx1"/>
                </a:solidFill>
              </a:rPr>
            </a:br>
            <a:br>
              <a:rPr lang="en-IN" b="1" dirty="0">
                <a:solidFill>
                  <a:schemeClr val="tx1"/>
                </a:solidFill>
              </a:rPr>
            </a:br>
            <a:br>
              <a:rPr lang="en-IN" b="1" dirty="0">
                <a:solidFill>
                  <a:schemeClr val="tx1"/>
                </a:solidFill>
              </a:rPr>
            </a:br>
            <a:br>
              <a:rPr lang="en-IN" b="1" dirty="0">
                <a:solidFill>
                  <a:schemeClr val="tx1"/>
                </a:solidFill>
              </a:rPr>
            </a:br>
            <a:br>
              <a:rPr lang="en-IN" b="1" dirty="0">
                <a:solidFill>
                  <a:schemeClr val="tx1"/>
                </a:solidFill>
              </a:rPr>
            </a:br>
            <a:br>
              <a:rPr lang="en-IN" b="1" dirty="0">
                <a:solidFill>
                  <a:schemeClr val="tx1"/>
                </a:solidFill>
              </a:rPr>
            </a:br>
            <a:br>
              <a:rPr lang="en-IN" b="1" dirty="0">
                <a:solidFill>
                  <a:schemeClr val="tx1"/>
                </a:solidFill>
              </a:rPr>
            </a:br>
            <a:br>
              <a:rPr lang="en-IN" b="1" dirty="0">
                <a:solidFill>
                  <a:schemeClr val="tx1"/>
                </a:solidFill>
              </a:rPr>
            </a:br>
            <a:br>
              <a:rPr lang="en-IN" b="1" dirty="0">
                <a:solidFill>
                  <a:schemeClr val="tx1"/>
                </a:solidFill>
              </a:rPr>
            </a:br>
            <a:br>
              <a:rPr lang="en-IN" b="1" dirty="0">
                <a:solidFill>
                  <a:schemeClr val="tx1"/>
                </a:solidFill>
              </a:rPr>
            </a:br>
            <a:br>
              <a:rPr lang="en-IN" b="1" dirty="0">
                <a:solidFill>
                  <a:schemeClr val="tx1"/>
                </a:solidFill>
              </a:rPr>
            </a:br>
            <a:br>
              <a:rPr lang="en-IN" b="1" dirty="0">
                <a:solidFill>
                  <a:schemeClr val="tx1"/>
                </a:solidFill>
              </a:rPr>
            </a:br>
            <a:br>
              <a:rPr lang="en-IN" b="1" dirty="0">
                <a:solidFill>
                  <a:schemeClr val="tx1"/>
                </a:solidFill>
              </a:rPr>
            </a:br>
            <a:endParaRPr lang="en-IN" b="1" dirty="0">
              <a:solidFill>
                <a:schemeClr val="tx1"/>
              </a:solidFill>
            </a:endParaRPr>
          </a:p>
        </p:txBody>
      </p:sp>
      <p:pic>
        <p:nvPicPr>
          <p:cNvPr id="4" name="Picture 3">
            <a:extLst>
              <a:ext uri="{FF2B5EF4-FFF2-40B4-BE49-F238E27FC236}">
                <a16:creationId xmlns:a16="http://schemas.microsoft.com/office/drawing/2014/main" id="{5164F253-EEC0-F4D8-CC38-3C7C82D337FF}"/>
              </a:ext>
            </a:extLst>
          </p:cNvPr>
          <p:cNvPicPr>
            <a:picLocks noChangeAspect="1"/>
          </p:cNvPicPr>
          <p:nvPr/>
        </p:nvPicPr>
        <p:blipFill>
          <a:blip r:embed="rId2"/>
          <a:stretch>
            <a:fillRect/>
          </a:stretch>
        </p:blipFill>
        <p:spPr>
          <a:xfrm>
            <a:off x="1661652" y="2064774"/>
            <a:ext cx="8809703" cy="3755923"/>
          </a:xfrm>
          <a:prstGeom prst="rect">
            <a:avLst/>
          </a:prstGeom>
        </p:spPr>
      </p:pic>
    </p:spTree>
    <p:extLst>
      <p:ext uri="{BB962C8B-B14F-4D97-AF65-F5344CB8AC3E}">
        <p14:creationId xmlns:p14="http://schemas.microsoft.com/office/powerpoint/2010/main" val="31840815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9C065-1E4B-6922-C3CA-6B2A51E6CA68}"/>
              </a:ext>
            </a:extLst>
          </p:cNvPr>
          <p:cNvSpPr>
            <a:spLocks noGrp="1"/>
          </p:cNvSpPr>
          <p:nvPr>
            <p:ph type="title"/>
          </p:nvPr>
        </p:nvSpPr>
        <p:spPr/>
        <p:txBody>
          <a:bodyPr/>
          <a:lstStyle/>
          <a:p>
            <a:r>
              <a:rPr lang="en-IN" cap="none" dirty="0">
                <a:solidFill>
                  <a:schemeClr val="tx1"/>
                </a:solidFill>
              </a:rPr>
              <a:t>     Handling Missing Values</a:t>
            </a:r>
          </a:p>
        </p:txBody>
      </p:sp>
      <p:pic>
        <p:nvPicPr>
          <p:cNvPr id="5" name="Content Placeholder 4">
            <a:extLst>
              <a:ext uri="{FF2B5EF4-FFF2-40B4-BE49-F238E27FC236}">
                <a16:creationId xmlns:a16="http://schemas.microsoft.com/office/drawing/2014/main" id="{7858A9A6-BE23-678E-7EBB-255B0813DA03}"/>
              </a:ext>
            </a:extLst>
          </p:cNvPr>
          <p:cNvPicPr>
            <a:picLocks noGrp="1" noChangeAspect="1"/>
          </p:cNvPicPr>
          <p:nvPr>
            <p:ph idx="1"/>
          </p:nvPr>
        </p:nvPicPr>
        <p:blipFill>
          <a:blip r:embed="rId2"/>
          <a:stretch>
            <a:fillRect/>
          </a:stretch>
        </p:blipFill>
        <p:spPr>
          <a:xfrm>
            <a:off x="1130710" y="2341563"/>
            <a:ext cx="8032955" cy="3633787"/>
          </a:xfrm>
        </p:spPr>
      </p:pic>
    </p:spTree>
    <p:extLst>
      <p:ext uri="{BB962C8B-B14F-4D97-AF65-F5344CB8AC3E}">
        <p14:creationId xmlns:p14="http://schemas.microsoft.com/office/powerpoint/2010/main" val="7082762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F71B6-FAB7-FFA5-FD8D-F40B7215937D}"/>
              </a:ext>
            </a:extLst>
          </p:cNvPr>
          <p:cNvSpPr>
            <a:spLocks noGrp="1"/>
          </p:cNvSpPr>
          <p:nvPr>
            <p:ph type="title"/>
          </p:nvPr>
        </p:nvSpPr>
        <p:spPr/>
        <p:txBody>
          <a:bodyPr/>
          <a:lstStyle/>
          <a:p>
            <a:r>
              <a:rPr lang="en-IN" cap="none" dirty="0">
                <a:solidFill>
                  <a:schemeClr val="tx1"/>
                </a:solidFill>
              </a:rPr>
              <a:t>Analysing Categorical Data</a:t>
            </a:r>
          </a:p>
        </p:txBody>
      </p:sp>
      <p:sp>
        <p:nvSpPr>
          <p:cNvPr id="3" name="Content Placeholder 2">
            <a:extLst>
              <a:ext uri="{FF2B5EF4-FFF2-40B4-BE49-F238E27FC236}">
                <a16:creationId xmlns:a16="http://schemas.microsoft.com/office/drawing/2014/main" id="{91A2A4BB-6E28-E758-9F00-A80E5243D410}"/>
              </a:ext>
            </a:extLst>
          </p:cNvPr>
          <p:cNvSpPr>
            <a:spLocks noGrp="1"/>
          </p:cNvSpPr>
          <p:nvPr>
            <p:ph sz="half" idx="1"/>
          </p:nvPr>
        </p:nvSpPr>
        <p:spPr/>
        <p:txBody>
          <a:bodyPr/>
          <a:lstStyle/>
          <a:p>
            <a:r>
              <a:rPr lang="en-US" sz="1800" dirty="0">
                <a:solidFill>
                  <a:schemeClr val="tx1"/>
                </a:solidFill>
              </a:rPr>
              <a:t>The Employee ID column was eliminated since it doesn't influence the burn rate. To evaluate the effect of the Date of Joining column, it was transformed into a </a:t>
            </a:r>
            <a:r>
              <a:rPr lang="en-US" sz="1800" dirty="0" err="1">
                <a:solidFill>
                  <a:schemeClr val="tx1"/>
                </a:solidFill>
              </a:rPr>
              <a:t>DateTime</a:t>
            </a:r>
            <a:r>
              <a:rPr lang="en-US" sz="1800" dirty="0">
                <a:solidFill>
                  <a:schemeClr val="tx1"/>
                </a:solidFill>
              </a:rPr>
              <a:t> format, and each employee's employment duration in days was calculated</a:t>
            </a:r>
            <a:endParaRPr lang="en-IN" dirty="0">
              <a:solidFill>
                <a:schemeClr val="tx1"/>
              </a:solidFill>
            </a:endParaRPr>
          </a:p>
        </p:txBody>
      </p:sp>
      <p:pic>
        <p:nvPicPr>
          <p:cNvPr id="6" name="Content Placeholder 5">
            <a:extLst>
              <a:ext uri="{FF2B5EF4-FFF2-40B4-BE49-F238E27FC236}">
                <a16:creationId xmlns:a16="http://schemas.microsoft.com/office/drawing/2014/main" id="{8D35C87A-935D-4C4E-857B-35928FD533DC}"/>
              </a:ext>
            </a:extLst>
          </p:cNvPr>
          <p:cNvPicPr>
            <a:picLocks noGrp="1" noChangeAspect="1"/>
          </p:cNvPicPr>
          <p:nvPr>
            <p:ph sz="half" idx="2"/>
          </p:nvPr>
        </p:nvPicPr>
        <p:blipFill>
          <a:blip r:embed="rId2"/>
          <a:stretch>
            <a:fillRect/>
          </a:stretch>
        </p:blipFill>
        <p:spPr>
          <a:xfrm>
            <a:off x="5901798" y="2084439"/>
            <a:ext cx="5914281" cy="3776612"/>
          </a:xfrm>
        </p:spPr>
      </p:pic>
    </p:spTree>
    <p:extLst>
      <p:ext uri="{BB962C8B-B14F-4D97-AF65-F5344CB8AC3E}">
        <p14:creationId xmlns:p14="http://schemas.microsoft.com/office/powerpoint/2010/main" val="5032113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87A92-A767-2676-1803-D5D3D57F06B6}"/>
              </a:ext>
            </a:extLst>
          </p:cNvPr>
          <p:cNvSpPr>
            <a:spLocks noGrp="1"/>
          </p:cNvSpPr>
          <p:nvPr>
            <p:ph type="title"/>
          </p:nvPr>
        </p:nvSpPr>
        <p:spPr/>
        <p:txBody>
          <a:bodyPr/>
          <a:lstStyle/>
          <a:p>
            <a:r>
              <a:rPr lang="en-IN" cap="none" dirty="0">
                <a:solidFill>
                  <a:schemeClr val="tx1"/>
                </a:solidFill>
              </a:rPr>
              <a:t>Analysing Categorical Data</a:t>
            </a:r>
          </a:p>
        </p:txBody>
      </p:sp>
      <p:sp>
        <p:nvSpPr>
          <p:cNvPr id="4" name="Content Placeholder 3">
            <a:extLst>
              <a:ext uri="{FF2B5EF4-FFF2-40B4-BE49-F238E27FC236}">
                <a16:creationId xmlns:a16="http://schemas.microsoft.com/office/drawing/2014/main" id="{B4146C7C-1A03-8A82-08D6-A92AC987E2ED}"/>
              </a:ext>
            </a:extLst>
          </p:cNvPr>
          <p:cNvSpPr>
            <a:spLocks noGrp="1"/>
          </p:cNvSpPr>
          <p:nvPr>
            <p:ph sz="half" idx="2"/>
          </p:nvPr>
        </p:nvSpPr>
        <p:spPr/>
        <p:txBody>
          <a:bodyPr/>
          <a:lstStyle/>
          <a:p>
            <a:r>
              <a:rPr lang="en-US" sz="1800" dirty="0">
                <a:solidFill>
                  <a:schemeClr val="tx1"/>
                </a:solidFill>
              </a:rPr>
              <a:t>We then analyzed the remaining categorical columns and proceeded further with our analysis. Our conclusion revealed that the data in each column is normally distributed, except for the Company Type column.</a:t>
            </a:r>
          </a:p>
          <a:p>
            <a:endParaRPr lang="en-IN" dirty="0"/>
          </a:p>
        </p:txBody>
      </p:sp>
      <p:pic>
        <p:nvPicPr>
          <p:cNvPr id="8" name="Content Placeholder 7">
            <a:extLst>
              <a:ext uri="{FF2B5EF4-FFF2-40B4-BE49-F238E27FC236}">
                <a16:creationId xmlns:a16="http://schemas.microsoft.com/office/drawing/2014/main" id="{52A78276-B8B2-67C4-B13B-9E111FCB5866}"/>
              </a:ext>
            </a:extLst>
          </p:cNvPr>
          <p:cNvPicPr>
            <a:picLocks noGrp="1" noChangeAspect="1"/>
          </p:cNvPicPr>
          <p:nvPr>
            <p:ph sz="quarter" idx="4"/>
          </p:nvPr>
        </p:nvPicPr>
        <p:blipFill>
          <a:blip r:embed="rId2"/>
          <a:stretch>
            <a:fillRect/>
          </a:stretch>
        </p:blipFill>
        <p:spPr>
          <a:xfrm>
            <a:off x="5869133" y="1808480"/>
            <a:ext cx="5690684" cy="4199030"/>
          </a:xfrm>
        </p:spPr>
      </p:pic>
    </p:spTree>
    <p:extLst>
      <p:ext uri="{BB962C8B-B14F-4D97-AF65-F5344CB8AC3E}">
        <p14:creationId xmlns:p14="http://schemas.microsoft.com/office/powerpoint/2010/main" val="23090713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043FF6-B63F-F1F4-91FF-5EC3C242C90B}"/>
              </a:ext>
            </a:extLst>
          </p:cNvPr>
          <p:cNvSpPr>
            <a:spLocks noGrp="1"/>
          </p:cNvSpPr>
          <p:nvPr>
            <p:ph type="title"/>
          </p:nvPr>
        </p:nvSpPr>
        <p:spPr/>
        <p:txBody>
          <a:bodyPr/>
          <a:lstStyle/>
          <a:p>
            <a:r>
              <a:rPr lang="en-IN" cap="none" dirty="0">
                <a:solidFill>
                  <a:schemeClr val="tx1"/>
                </a:solidFill>
              </a:rPr>
              <a:t>Data Splitting And Scaling</a:t>
            </a:r>
          </a:p>
        </p:txBody>
      </p:sp>
      <p:sp>
        <p:nvSpPr>
          <p:cNvPr id="3" name="Content Placeholder 2">
            <a:extLst>
              <a:ext uri="{FF2B5EF4-FFF2-40B4-BE49-F238E27FC236}">
                <a16:creationId xmlns:a16="http://schemas.microsoft.com/office/drawing/2014/main" id="{8DC6DD66-779E-081A-2B54-AB3B338C138B}"/>
              </a:ext>
            </a:extLst>
          </p:cNvPr>
          <p:cNvSpPr>
            <a:spLocks noGrp="1"/>
          </p:cNvSpPr>
          <p:nvPr>
            <p:ph sz="half" idx="1"/>
          </p:nvPr>
        </p:nvSpPr>
        <p:spPr/>
        <p:txBody>
          <a:bodyPr/>
          <a:lstStyle/>
          <a:p>
            <a:r>
              <a:rPr lang="en-US" sz="1800" dirty="0">
                <a:solidFill>
                  <a:schemeClr val="tx1"/>
                </a:solidFill>
              </a:rPr>
              <a:t>We divided the dataset into training and testing sets with a 7:3 ratio to train the linear regression model. To scale the features, we used a standard scaler to standardize the data, ensuring each feature has a mean of 0 and a standard deviation of 1.</a:t>
            </a:r>
          </a:p>
          <a:p>
            <a:endParaRPr lang="en-IN" dirty="0"/>
          </a:p>
        </p:txBody>
      </p:sp>
      <p:pic>
        <p:nvPicPr>
          <p:cNvPr id="6" name="Content Placeholder 5">
            <a:extLst>
              <a:ext uri="{FF2B5EF4-FFF2-40B4-BE49-F238E27FC236}">
                <a16:creationId xmlns:a16="http://schemas.microsoft.com/office/drawing/2014/main" id="{207B3218-DF1B-B56A-0318-688B2BFD9241}"/>
              </a:ext>
            </a:extLst>
          </p:cNvPr>
          <p:cNvPicPr>
            <a:picLocks noGrp="1" noChangeAspect="1"/>
          </p:cNvPicPr>
          <p:nvPr>
            <p:ph sz="half" idx="2"/>
          </p:nvPr>
        </p:nvPicPr>
        <p:blipFill>
          <a:blip r:embed="rId2"/>
          <a:stretch>
            <a:fillRect/>
          </a:stretch>
        </p:blipFill>
        <p:spPr>
          <a:xfrm>
            <a:off x="5775960" y="2507226"/>
            <a:ext cx="5835015" cy="2632785"/>
          </a:xfrm>
        </p:spPr>
      </p:pic>
    </p:spTree>
    <p:extLst>
      <p:ext uri="{BB962C8B-B14F-4D97-AF65-F5344CB8AC3E}">
        <p14:creationId xmlns:p14="http://schemas.microsoft.com/office/powerpoint/2010/main" val="2271728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358BF-23BA-A423-201F-9F9D636B3892}"/>
              </a:ext>
            </a:extLst>
          </p:cNvPr>
          <p:cNvSpPr>
            <a:spLocks noGrp="1"/>
          </p:cNvSpPr>
          <p:nvPr>
            <p:ph type="title"/>
          </p:nvPr>
        </p:nvSpPr>
        <p:spPr/>
        <p:txBody>
          <a:bodyPr/>
          <a:lstStyle/>
          <a:p>
            <a:r>
              <a:rPr lang="en-IN" cap="none" dirty="0">
                <a:solidFill>
                  <a:schemeClr val="tx1"/>
                </a:solidFill>
              </a:rPr>
              <a:t>  One Hot Encoding </a:t>
            </a:r>
          </a:p>
        </p:txBody>
      </p:sp>
      <p:sp>
        <p:nvSpPr>
          <p:cNvPr id="3" name="Content Placeholder 2">
            <a:extLst>
              <a:ext uri="{FF2B5EF4-FFF2-40B4-BE49-F238E27FC236}">
                <a16:creationId xmlns:a16="http://schemas.microsoft.com/office/drawing/2014/main" id="{99BE53A8-6AF1-9EF1-FC64-1F980DEBD7E6}"/>
              </a:ext>
            </a:extLst>
          </p:cNvPr>
          <p:cNvSpPr>
            <a:spLocks noGrp="1"/>
          </p:cNvSpPr>
          <p:nvPr>
            <p:ph sz="half" idx="1"/>
          </p:nvPr>
        </p:nvSpPr>
        <p:spPr/>
        <p:txBody>
          <a:bodyPr/>
          <a:lstStyle/>
          <a:p>
            <a:r>
              <a:rPr kumimoji="0" lang="en-US" altLang="en-US" sz="1800" b="0" i="0" u="none" strike="noStrike" cap="none" normalizeH="0" baseline="0" dirty="0">
                <a:ln>
                  <a:noFill/>
                </a:ln>
                <a:solidFill>
                  <a:schemeClr val="tx1"/>
                </a:solidFill>
                <a:effectLst/>
                <a:latin typeface="Arial" panose="020B0604020202020204" pitchFamily="34" charset="0"/>
              </a:rPr>
              <a:t>We utilized one-hot encoding to transform categorical data into a numerical format appropriate for our predictive model. This method entails encoding the categorical values with dummy numerical values, allowing the machine learning algorithms to handle this information efficiently.</a:t>
            </a:r>
          </a:p>
          <a:p>
            <a:endParaRPr lang="en-IN" dirty="0"/>
          </a:p>
        </p:txBody>
      </p:sp>
      <p:pic>
        <p:nvPicPr>
          <p:cNvPr id="6" name="Content Placeholder 5">
            <a:extLst>
              <a:ext uri="{FF2B5EF4-FFF2-40B4-BE49-F238E27FC236}">
                <a16:creationId xmlns:a16="http://schemas.microsoft.com/office/drawing/2014/main" id="{BCBE6078-1BEF-FF42-B250-7EEA385CD5BA}"/>
              </a:ext>
            </a:extLst>
          </p:cNvPr>
          <p:cNvPicPr>
            <a:picLocks noGrp="1" noChangeAspect="1"/>
          </p:cNvPicPr>
          <p:nvPr>
            <p:ph sz="half" idx="2"/>
          </p:nvPr>
        </p:nvPicPr>
        <p:blipFill>
          <a:blip r:embed="rId2"/>
          <a:stretch>
            <a:fillRect/>
          </a:stretch>
        </p:blipFill>
        <p:spPr>
          <a:xfrm>
            <a:off x="5678320" y="2507225"/>
            <a:ext cx="5932655" cy="2632785"/>
          </a:xfrm>
        </p:spPr>
      </p:pic>
    </p:spTree>
    <p:extLst>
      <p:ext uri="{BB962C8B-B14F-4D97-AF65-F5344CB8AC3E}">
        <p14:creationId xmlns:p14="http://schemas.microsoft.com/office/powerpoint/2010/main" val="34908305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2EC1-B7BF-CE7B-C9A6-7635DA95F4F6}"/>
              </a:ext>
            </a:extLst>
          </p:cNvPr>
          <p:cNvSpPr>
            <a:spLocks noGrp="1"/>
          </p:cNvSpPr>
          <p:nvPr>
            <p:ph type="title"/>
          </p:nvPr>
        </p:nvSpPr>
        <p:spPr/>
        <p:txBody>
          <a:bodyPr anchor="ctr">
            <a:normAutofit/>
          </a:bodyPr>
          <a:lstStyle/>
          <a:p>
            <a:r>
              <a:rPr lang="en-GB" sz="3200" dirty="0">
                <a:solidFill>
                  <a:schemeClr val="accent1">
                    <a:lumMod val="75000"/>
                  </a:schemeClr>
                </a:solidFill>
              </a:rPr>
              <a:t>                                              </a:t>
            </a:r>
            <a:r>
              <a:rPr lang="en-GB" sz="3200" dirty="0">
                <a:solidFill>
                  <a:schemeClr val="accent1"/>
                </a:solidFill>
              </a:rPr>
              <a:t>results</a:t>
            </a:r>
            <a:endParaRPr lang="en-US" sz="3200" dirty="0">
              <a:solidFill>
                <a:schemeClr val="accent1"/>
              </a:solidFill>
            </a:endParaRPr>
          </a:p>
        </p:txBody>
      </p:sp>
      <p:sp>
        <p:nvSpPr>
          <p:cNvPr id="11" name="Text Placeholder 10">
            <a:extLst>
              <a:ext uri="{FF2B5EF4-FFF2-40B4-BE49-F238E27FC236}">
                <a16:creationId xmlns:a16="http://schemas.microsoft.com/office/drawing/2014/main" id="{9BD4A7EB-15F2-01FA-2FE7-B750E67416CD}"/>
              </a:ext>
            </a:extLst>
          </p:cNvPr>
          <p:cNvSpPr>
            <a:spLocks noGrp="1"/>
          </p:cNvSpPr>
          <p:nvPr>
            <p:ph type="body" idx="1"/>
          </p:nvPr>
        </p:nvSpPr>
        <p:spPr>
          <a:xfrm>
            <a:off x="581192" y="2841522"/>
            <a:ext cx="5013364" cy="1582993"/>
          </a:xfrm>
        </p:spPr>
        <p:txBody>
          <a:bodyPr/>
          <a:lstStyle/>
          <a:p>
            <a:pPr marL="342900" indent="-342900">
              <a:buFont typeface="Wingdings" panose="05000000000000000000" pitchFamily="2" charset="2"/>
              <a:buChar char="§"/>
            </a:pPr>
            <a:r>
              <a:rPr lang="en-US" sz="2000" dirty="0">
                <a:solidFill>
                  <a:schemeClr val="tx1"/>
                </a:solidFill>
                <a:latin typeface="Arimo"/>
                <a:ea typeface="Arimo"/>
                <a:cs typeface="Arimo"/>
                <a:sym typeface="Arimo"/>
              </a:rPr>
              <a:t>Two variables are strongly correlated with the target variable, therefore, important to estimate it.</a:t>
            </a:r>
          </a:p>
          <a:p>
            <a:endParaRPr lang="en-IN" dirty="0"/>
          </a:p>
        </p:txBody>
      </p:sp>
      <p:sp>
        <p:nvSpPr>
          <p:cNvPr id="12" name="Text Placeholder 11">
            <a:extLst>
              <a:ext uri="{FF2B5EF4-FFF2-40B4-BE49-F238E27FC236}">
                <a16:creationId xmlns:a16="http://schemas.microsoft.com/office/drawing/2014/main" id="{47DBFCE1-6F6C-500D-16B9-99669BFCEFB9}"/>
              </a:ext>
            </a:extLst>
          </p:cNvPr>
          <p:cNvSpPr>
            <a:spLocks noGrp="1"/>
          </p:cNvSpPr>
          <p:nvPr>
            <p:ph type="body" sz="quarter" idx="3"/>
          </p:nvPr>
        </p:nvSpPr>
        <p:spPr>
          <a:xfrm flipV="1">
            <a:off x="7334865" y="2664542"/>
            <a:ext cx="4275944" cy="764458"/>
          </a:xfrm>
        </p:spPr>
        <p:txBody>
          <a:bodyPr/>
          <a:lstStyle/>
          <a:p>
            <a:r>
              <a:rPr lang="en-IN" dirty="0"/>
              <a:t> </a:t>
            </a:r>
          </a:p>
        </p:txBody>
      </p:sp>
      <p:pic>
        <p:nvPicPr>
          <p:cNvPr id="7" name="Content Placeholder 14">
            <a:extLst>
              <a:ext uri="{FF2B5EF4-FFF2-40B4-BE49-F238E27FC236}">
                <a16:creationId xmlns:a16="http://schemas.microsoft.com/office/drawing/2014/main" id="{291756D2-7508-BEE8-8E51-3A96A0F6E183}"/>
              </a:ext>
            </a:extLst>
          </p:cNvPr>
          <p:cNvPicPr>
            <a:picLocks noGrp="1" noChangeAspect="1"/>
          </p:cNvPicPr>
          <p:nvPr>
            <p:ph sz="half" idx="2"/>
          </p:nvPr>
        </p:nvPicPr>
        <p:blipFill>
          <a:blip r:embed="rId2"/>
          <a:stretch>
            <a:fillRect/>
          </a:stretch>
        </p:blipFill>
        <p:spPr>
          <a:xfrm>
            <a:off x="6046764" y="2074607"/>
            <a:ext cx="5080306" cy="4188541"/>
          </a:xfrm>
        </p:spPr>
      </p:pic>
    </p:spTree>
    <p:extLst>
      <p:ext uri="{BB962C8B-B14F-4D97-AF65-F5344CB8AC3E}">
        <p14:creationId xmlns:p14="http://schemas.microsoft.com/office/powerpoint/2010/main" val="20024144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83CBB-DB4F-4D8D-249C-D3EEA7D81518}"/>
              </a:ext>
            </a:extLst>
          </p:cNvPr>
          <p:cNvSpPr>
            <a:spLocks noGrp="1"/>
          </p:cNvSpPr>
          <p:nvPr>
            <p:ph type="title"/>
          </p:nvPr>
        </p:nvSpPr>
        <p:spPr>
          <a:xfrm>
            <a:off x="581359" y="691378"/>
            <a:ext cx="11029616" cy="988332"/>
          </a:xfrm>
        </p:spPr>
        <p:txBody>
          <a:bodyPr>
            <a:normAutofit/>
          </a:bodyPr>
          <a:lstStyle/>
          <a:p>
            <a:r>
              <a:rPr lang="en-IN" sz="3200" dirty="0">
                <a:solidFill>
                  <a:schemeClr val="accent1"/>
                </a:solidFill>
              </a:rPr>
              <a:t>                                         RESULTS</a:t>
            </a:r>
          </a:p>
        </p:txBody>
      </p:sp>
      <p:sp>
        <p:nvSpPr>
          <p:cNvPr id="3" name="Content Placeholder 2">
            <a:extLst>
              <a:ext uri="{FF2B5EF4-FFF2-40B4-BE49-F238E27FC236}">
                <a16:creationId xmlns:a16="http://schemas.microsoft.com/office/drawing/2014/main" id="{986B73E8-363B-E4F6-223F-E6E95B6FFF33}"/>
              </a:ext>
            </a:extLst>
          </p:cNvPr>
          <p:cNvSpPr>
            <a:spLocks noGrp="1"/>
          </p:cNvSpPr>
          <p:nvPr>
            <p:ph sz="half" idx="1"/>
          </p:nvPr>
        </p:nvSpPr>
        <p:spPr>
          <a:xfrm>
            <a:off x="581025" y="1504335"/>
            <a:ext cx="5194935" cy="4356716"/>
          </a:xfrm>
        </p:spPr>
        <p:txBody>
          <a:bodyPr/>
          <a:lstStyle/>
          <a:p>
            <a:r>
              <a:rPr lang="en-US" dirty="0">
                <a:solidFill>
                  <a:schemeClr val="tx1"/>
                </a:solidFill>
              </a:rPr>
              <a:t>We visualized the actual versus predicted values for 30 randomly chosen samples on a best-fit line, demonstrating the alignment between the model's predictions and the actual burn rate values. This visualization provides insights into the model's accuracy and performance.</a:t>
            </a:r>
            <a:endParaRPr lang="en-IN" dirty="0">
              <a:solidFill>
                <a:schemeClr val="tx1"/>
              </a:solidFill>
            </a:endParaRPr>
          </a:p>
        </p:txBody>
      </p:sp>
      <p:pic>
        <p:nvPicPr>
          <p:cNvPr id="6" name="Content Placeholder 5">
            <a:extLst>
              <a:ext uri="{FF2B5EF4-FFF2-40B4-BE49-F238E27FC236}">
                <a16:creationId xmlns:a16="http://schemas.microsoft.com/office/drawing/2014/main" id="{0C9718E6-2CC9-8150-600E-DF6C75A6AB4F}"/>
              </a:ext>
            </a:extLst>
          </p:cNvPr>
          <p:cNvPicPr>
            <a:picLocks noGrp="1" noChangeAspect="1"/>
          </p:cNvPicPr>
          <p:nvPr>
            <p:ph sz="half" idx="2"/>
          </p:nvPr>
        </p:nvPicPr>
        <p:blipFill>
          <a:blip r:embed="rId2"/>
          <a:stretch>
            <a:fillRect/>
          </a:stretch>
        </p:blipFill>
        <p:spPr>
          <a:xfrm>
            <a:off x="6184490" y="2270286"/>
            <a:ext cx="5426485" cy="3402170"/>
          </a:xfrm>
        </p:spPr>
      </p:pic>
    </p:spTree>
    <p:extLst>
      <p:ext uri="{BB962C8B-B14F-4D97-AF65-F5344CB8AC3E}">
        <p14:creationId xmlns:p14="http://schemas.microsoft.com/office/powerpoint/2010/main" val="3673558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B2CD1-C997-FE4E-E289-D133764B87BD}"/>
              </a:ext>
            </a:extLst>
          </p:cNvPr>
          <p:cNvSpPr>
            <a:spLocks noGrp="1"/>
          </p:cNvSpPr>
          <p:nvPr>
            <p:ph type="title"/>
          </p:nvPr>
        </p:nvSpPr>
        <p:spPr/>
        <p:txBody>
          <a:bodyPr>
            <a:normAutofit/>
          </a:bodyPr>
          <a:lstStyle/>
          <a:p>
            <a:r>
              <a:rPr lang="en-IN" sz="3200" dirty="0">
                <a:solidFill>
                  <a:schemeClr val="accent1"/>
                </a:solidFill>
              </a:rPr>
              <a:t>                                            RESULTS</a:t>
            </a:r>
          </a:p>
        </p:txBody>
      </p:sp>
      <p:sp>
        <p:nvSpPr>
          <p:cNvPr id="3" name="Content Placeholder 2">
            <a:extLst>
              <a:ext uri="{FF2B5EF4-FFF2-40B4-BE49-F238E27FC236}">
                <a16:creationId xmlns:a16="http://schemas.microsoft.com/office/drawing/2014/main" id="{814AF886-8EBB-B970-6278-FA6FC6A496EB}"/>
              </a:ext>
            </a:extLst>
          </p:cNvPr>
          <p:cNvSpPr>
            <a:spLocks noGrp="1"/>
          </p:cNvSpPr>
          <p:nvPr>
            <p:ph sz="half" idx="1"/>
          </p:nvPr>
        </p:nvSpPr>
        <p:spPr>
          <a:xfrm>
            <a:off x="727587" y="1799304"/>
            <a:ext cx="5048373" cy="4031226"/>
          </a:xfrm>
        </p:spPr>
        <p:txBody>
          <a:bodyPr/>
          <a:lstStyle/>
          <a:p>
            <a:r>
              <a:rPr lang="en-US" sz="1800" dirty="0">
                <a:solidFill>
                  <a:schemeClr val="tx1"/>
                </a:solidFill>
              </a:rPr>
              <a:t>The plot illustrates the actual versus predicted values for the burn rate, with the red dotted line representing the regression line fitted by the model. This visualization aids in assessing the model's accuracy by comparing the predicted burn rates to the actual values. </a:t>
            </a:r>
            <a:endParaRPr lang="en-IN" dirty="0">
              <a:solidFill>
                <a:schemeClr val="tx1"/>
              </a:solidFill>
            </a:endParaRPr>
          </a:p>
        </p:txBody>
      </p:sp>
      <p:pic>
        <p:nvPicPr>
          <p:cNvPr id="6" name="Content Placeholder 5">
            <a:extLst>
              <a:ext uri="{FF2B5EF4-FFF2-40B4-BE49-F238E27FC236}">
                <a16:creationId xmlns:a16="http://schemas.microsoft.com/office/drawing/2014/main" id="{0756ADF1-66D9-1D62-0560-DF44D1061A0F}"/>
              </a:ext>
            </a:extLst>
          </p:cNvPr>
          <p:cNvPicPr>
            <a:picLocks noGrp="1" noChangeAspect="1"/>
          </p:cNvPicPr>
          <p:nvPr>
            <p:ph sz="half" idx="2"/>
          </p:nvPr>
        </p:nvPicPr>
        <p:blipFill>
          <a:blip r:embed="rId2"/>
          <a:stretch>
            <a:fillRect/>
          </a:stretch>
        </p:blipFill>
        <p:spPr>
          <a:xfrm>
            <a:off x="6096000" y="2335732"/>
            <a:ext cx="5514975" cy="3416848"/>
          </a:xfrm>
        </p:spPr>
      </p:pic>
    </p:spTree>
    <p:extLst>
      <p:ext uri="{BB962C8B-B14F-4D97-AF65-F5344CB8AC3E}">
        <p14:creationId xmlns:p14="http://schemas.microsoft.com/office/powerpoint/2010/main" val="6230039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47360-336A-D695-B0F7-B2B0C7436E15}"/>
              </a:ext>
            </a:extLst>
          </p:cNvPr>
          <p:cNvSpPr>
            <a:spLocks noGrp="1"/>
          </p:cNvSpPr>
          <p:nvPr>
            <p:ph type="title"/>
          </p:nvPr>
        </p:nvSpPr>
        <p:spPr>
          <a:xfrm>
            <a:off x="581192" y="702156"/>
            <a:ext cx="11029616" cy="998825"/>
          </a:xfrm>
        </p:spPr>
        <p:txBody>
          <a:bodyPr>
            <a:normAutofit/>
          </a:bodyPr>
          <a:lstStyle/>
          <a:p>
            <a:r>
              <a:rPr lang="en-IN" sz="4000" dirty="0">
                <a:solidFill>
                  <a:schemeClr val="accent1"/>
                </a:solidFill>
              </a:rPr>
              <a:t>                                    LINKS</a:t>
            </a:r>
          </a:p>
        </p:txBody>
      </p:sp>
      <p:sp>
        <p:nvSpPr>
          <p:cNvPr id="3" name="Content Placeholder 2">
            <a:extLst>
              <a:ext uri="{FF2B5EF4-FFF2-40B4-BE49-F238E27FC236}">
                <a16:creationId xmlns:a16="http://schemas.microsoft.com/office/drawing/2014/main" id="{D2E6B84A-0B7E-D3EA-8406-6669C6571026}"/>
              </a:ext>
            </a:extLst>
          </p:cNvPr>
          <p:cNvSpPr>
            <a:spLocks noGrp="1"/>
          </p:cNvSpPr>
          <p:nvPr>
            <p:ph idx="1"/>
          </p:nvPr>
        </p:nvSpPr>
        <p:spPr>
          <a:xfrm>
            <a:off x="581192" y="1700981"/>
            <a:ext cx="11029616" cy="4274369"/>
          </a:xfrm>
        </p:spPr>
        <p:txBody>
          <a:bodyPr>
            <a:normAutofit/>
          </a:bodyPr>
          <a:lstStyle/>
          <a:p>
            <a:r>
              <a:rPr lang="en-IN" sz="2400" b="1" dirty="0">
                <a:solidFill>
                  <a:schemeClr val="tx1"/>
                </a:solidFill>
              </a:rPr>
              <a:t>CO-Lab Link: </a:t>
            </a:r>
            <a:r>
              <a:rPr lang="en-IN" sz="2000" dirty="0">
                <a:solidFill>
                  <a:schemeClr val="accent1"/>
                </a:solidFill>
              </a:rPr>
              <a:t>https://colab.research.google.com/drive/106yTshwC6bCrCxkWOYLX11DOVoEkp93C</a:t>
            </a:r>
          </a:p>
          <a:p>
            <a:r>
              <a:rPr lang="en-IN" sz="2400" b="1" dirty="0">
                <a:solidFill>
                  <a:schemeClr val="tx1"/>
                </a:solidFill>
              </a:rPr>
              <a:t>Dataset From Kaggle: </a:t>
            </a:r>
            <a:r>
              <a:rPr lang="en-US" sz="2000" dirty="0">
                <a:solidFill>
                  <a:schemeClr val="accent1"/>
                </a:solidFill>
                <a:latin typeface="Canva Sans"/>
                <a:ea typeface="Canva Sans"/>
                <a:cs typeface="Canva Sans"/>
                <a:sym typeface="Canva Sans"/>
                <a:hlinkClick r:id="rId2">
                  <a:extLst>
                    <a:ext uri="{A12FA001-AC4F-418D-AE19-62706E023703}">
                      <ahyp:hlinkClr xmlns:ahyp="http://schemas.microsoft.com/office/drawing/2018/hyperlinkcolor" val="tx"/>
                    </a:ext>
                  </a:extLst>
                </a:hlinkClick>
              </a:rPr>
              <a:t>https://www.kaggle.com/datasets/blurredmachine/are-your-employees-burning-out</a:t>
            </a:r>
            <a:endParaRPr lang="en-US" sz="2000" dirty="0">
              <a:solidFill>
                <a:schemeClr val="accent1"/>
              </a:solidFill>
              <a:latin typeface="Canva Sans"/>
              <a:ea typeface="Canva Sans"/>
              <a:cs typeface="Canva Sans"/>
              <a:sym typeface="Canva Sans"/>
            </a:endParaRPr>
          </a:p>
          <a:p>
            <a:r>
              <a:rPr lang="en-US" sz="2400" b="1" dirty="0">
                <a:solidFill>
                  <a:schemeClr val="tx1"/>
                </a:solidFill>
                <a:latin typeface="Canva Sans"/>
                <a:sym typeface="Canva Sans"/>
              </a:rPr>
              <a:t>GitHub link: </a:t>
            </a:r>
            <a:r>
              <a:rPr lang="en-US" sz="2000" dirty="0">
                <a:solidFill>
                  <a:schemeClr val="accent1"/>
                </a:solidFill>
                <a:latin typeface="Canva Sans"/>
                <a:sym typeface="Canva Sans"/>
              </a:rPr>
              <a:t>https://github.com/nikhitha1188/Edunet-Internship.git</a:t>
            </a:r>
          </a:p>
          <a:p>
            <a:r>
              <a:rPr lang="en-US" sz="2400" b="1" dirty="0">
                <a:solidFill>
                  <a:schemeClr val="tx1"/>
                </a:solidFill>
                <a:latin typeface="Canva Sans"/>
                <a:sym typeface="Canva Sans"/>
              </a:rPr>
              <a:t>Email ID: </a:t>
            </a:r>
            <a:r>
              <a:rPr lang="en-US" sz="2400" dirty="0">
                <a:solidFill>
                  <a:schemeClr val="accent1"/>
                </a:solidFill>
                <a:latin typeface="Canva Sans"/>
                <a:sym typeface="Canva Sans"/>
              </a:rPr>
              <a:t>nikhitha_yarajarla@srmap.edu.in</a:t>
            </a:r>
            <a:endParaRPr lang="en-IN" sz="2400" dirty="0">
              <a:solidFill>
                <a:schemeClr val="accent1"/>
              </a:solidFill>
            </a:endParaRPr>
          </a:p>
        </p:txBody>
      </p:sp>
    </p:spTree>
    <p:extLst>
      <p:ext uri="{BB962C8B-B14F-4D97-AF65-F5344CB8AC3E}">
        <p14:creationId xmlns:p14="http://schemas.microsoft.com/office/powerpoint/2010/main" val="31440716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FE5EE9-F885-3784-F05D-1CB4FB5E283E}"/>
              </a:ext>
            </a:extLst>
          </p:cNvPr>
          <p:cNvSpPr>
            <a:spLocks noGrp="1"/>
          </p:cNvSpPr>
          <p:nvPr>
            <p:ph idx="1"/>
          </p:nvPr>
        </p:nvSpPr>
        <p:spPr>
          <a:xfrm>
            <a:off x="648930" y="1455174"/>
            <a:ext cx="11404006" cy="3569002"/>
          </a:xfrm>
        </p:spPr>
        <p:txBody>
          <a:bodyPr>
            <a:normAutofit/>
          </a:bodyPr>
          <a:lstStyle/>
          <a:p>
            <a:pPr marL="0" indent="0">
              <a:buNone/>
            </a:pPr>
            <a:r>
              <a:rPr lang="en-IN" sz="9600" dirty="0">
                <a:solidFill>
                  <a:srgbClr val="1CADE4"/>
                </a:solidFill>
                <a:latin typeface="+mj-lt"/>
              </a:rPr>
              <a:t>       THANK YOU</a:t>
            </a:r>
          </a:p>
        </p:txBody>
      </p:sp>
    </p:spTree>
    <p:extLst>
      <p:ext uri="{BB962C8B-B14F-4D97-AF65-F5344CB8AC3E}">
        <p14:creationId xmlns:p14="http://schemas.microsoft.com/office/powerpoint/2010/main" val="3041859053"/>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IBM template.pptx" id="{DD7D02DF-74B2-BE46-8E60-C19E1E020CC7}" vid="{4A44C851-0219-434E-AA92-1FCB39E6E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D289AE2-D2AE-49D1-AFAC-3A79F6794255}">
  <ds:schemaRefs>
    <ds:schemaRef ds:uri="16c05727-aa75-4e4a-9b5f-8a80a1165891"/>
    <ds:schemaRef ds:uri="71af3243-3dd4-4a8d-8c0d-dd76da1f02a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41E7CA09-9778-4414-AE97-8064B12DA30E}">
  <ds:schemaRefs>
    <ds:schemaRef ds:uri="16c05727-aa75-4e4a-9b5f-8a80a1165891"/>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27BD4C1-B6B1-4715-ABF9-E660A51A4EA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1286</TotalTime>
  <Words>951</Words>
  <Application>Microsoft Office PowerPoint</Application>
  <PresentationFormat>Widescreen</PresentationFormat>
  <Paragraphs>71</Paragraphs>
  <Slides>19</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Arial</vt:lpstr>
      <vt:lpstr>Arimo</vt:lpstr>
      <vt:lpstr>Calibri</vt:lpstr>
      <vt:lpstr>Canva Sans</vt:lpstr>
      <vt:lpstr>Franklin Gothic Book</vt:lpstr>
      <vt:lpstr>Franklin Gothic Demi</vt:lpstr>
      <vt:lpstr>Wingdings</vt:lpstr>
      <vt:lpstr>Wingdings 2</vt:lpstr>
      <vt:lpstr>DividendVTI</vt:lpstr>
      <vt:lpstr>                                 Student Details</vt:lpstr>
      <vt:lpstr>                          Employee burnout prediction </vt:lpstr>
      <vt:lpstr>                                                AGENDA</vt:lpstr>
      <vt:lpstr>                                 PROJECT  OVERVIEW</vt:lpstr>
      <vt:lpstr>            WHO ARE THE END USERS of this project?</vt:lpstr>
      <vt:lpstr>                 YOUR SOLUTION AND ITS VALUE PROPOSITION</vt:lpstr>
      <vt:lpstr>                                </vt:lpstr>
      <vt:lpstr>How did you customize the project and make it your own</vt:lpstr>
      <vt:lpstr>                                             MODELLING</vt:lpstr>
      <vt:lpstr>     Handling Missing Values</vt:lpstr>
      <vt:lpstr>Analysing Categorical Data</vt:lpstr>
      <vt:lpstr>Analysing Categorical Data</vt:lpstr>
      <vt:lpstr>Data Splitting And Scaling</vt:lpstr>
      <vt:lpstr>  One Hot Encoding </vt:lpstr>
      <vt:lpstr>                                              results</vt:lpstr>
      <vt:lpstr>                                         RESULTS</vt:lpstr>
      <vt:lpstr>                                            RESULTS</vt:lpstr>
      <vt:lpstr>                                    LINKS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NIKHITHA .Y</cp:lastModifiedBy>
  <cp:revision>9</cp:revision>
  <dcterms:created xsi:type="dcterms:W3CDTF">2021-05-26T16:50:10Z</dcterms:created>
  <dcterms:modified xsi:type="dcterms:W3CDTF">2024-07-25T12:10:48Z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